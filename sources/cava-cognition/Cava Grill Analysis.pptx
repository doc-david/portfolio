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ExtraBold"/>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ExtraBold-boldItalic.fntdata"/><Relationship Id="rId25" Type="http://schemas.openxmlformats.org/officeDocument/2006/relationships/font" Target="fonts/RobotoExtra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30aca8890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30aca8890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0aca8890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0aca8890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4b78f4f1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4b78f4f1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4b78f4f1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4b78f4f1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9c6153b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9c6153b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34b78f4f1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34b78f4f1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4b78f4f1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4b78f4f1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4b78f4f1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4b78f4f1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4b78f4f1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4b78f4f1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34b78f4f1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34b78f4f1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b78f4f1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b78f4f1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34b78f4f1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34b78f4f1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4b78f4f1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34b78f4f1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4b78f4f1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34b78f4f1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34b78f4f1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34b78f4f1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34b78f4f1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34b78f4f1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34b78f4f1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34b78f4f1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9c6153b5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39c6153b5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8F0E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352750" y="-1416350"/>
            <a:ext cx="5240749" cy="5240749"/>
          </a:xfrm>
          <a:prstGeom prst="rect">
            <a:avLst/>
          </a:prstGeom>
          <a:noFill/>
          <a:ln>
            <a:noFill/>
          </a:ln>
        </p:spPr>
      </p:pic>
      <p:sp>
        <p:nvSpPr>
          <p:cNvPr id="55" name="Google Shape;55;p13"/>
          <p:cNvSpPr txBox="1"/>
          <p:nvPr/>
        </p:nvSpPr>
        <p:spPr>
          <a:xfrm>
            <a:off x="3865950" y="959300"/>
            <a:ext cx="52014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100">
                <a:solidFill>
                  <a:schemeClr val="dk1"/>
                </a:solidFill>
                <a:latin typeface="Roboto ExtraBold"/>
                <a:ea typeface="Roboto ExtraBold"/>
                <a:cs typeface="Roboto ExtraBold"/>
                <a:sym typeface="Roboto ExtraBold"/>
              </a:rPr>
              <a:t>Cognition of</a:t>
            </a:r>
            <a:endParaRPr sz="6100">
              <a:solidFill>
                <a:schemeClr val="dk1"/>
              </a:solidFill>
              <a:latin typeface="Roboto ExtraBold"/>
              <a:ea typeface="Roboto ExtraBold"/>
              <a:cs typeface="Roboto ExtraBold"/>
              <a:sym typeface="Roboto ExtraBold"/>
            </a:endParaRPr>
          </a:p>
        </p:txBody>
      </p:sp>
      <p:sp>
        <p:nvSpPr>
          <p:cNvPr id="56" name="Google Shape;56;p13"/>
          <p:cNvSpPr txBox="1"/>
          <p:nvPr/>
        </p:nvSpPr>
        <p:spPr>
          <a:xfrm>
            <a:off x="3617675" y="144700"/>
            <a:ext cx="56790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100">
                <a:solidFill>
                  <a:schemeClr val="dk1"/>
                </a:solidFill>
                <a:latin typeface="Roboto ExtraBold"/>
                <a:ea typeface="Roboto ExtraBold"/>
                <a:cs typeface="Roboto ExtraBold"/>
                <a:sym typeface="Roboto ExtraBold"/>
              </a:rPr>
              <a:t>The Distributed </a:t>
            </a:r>
            <a:endParaRPr sz="6100">
              <a:solidFill>
                <a:schemeClr val="dk1"/>
              </a:solidFill>
              <a:latin typeface="Roboto ExtraBold"/>
              <a:ea typeface="Roboto ExtraBold"/>
              <a:cs typeface="Roboto ExtraBold"/>
              <a:sym typeface="Roboto ExtraBold"/>
            </a:endParaRPr>
          </a:p>
        </p:txBody>
      </p:sp>
      <p:pic>
        <p:nvPicPr>
          <p:cNvPr id="57" name="Google Shape;57;p13"/>
          <p:cNvPicPr preferRelativeResize="0"/>
          <p:nvPr/>
        </p:nvPicPr>
        <p:blipFill>
          <a:blip r:embed="rId4">
            <a:alphaModFix/>
          </a:blip>
          <a:stretch>
            <a:fillRect/>
          </a:stretch>
        </p:blipFill>
        <p:spPr>
          <a:xfrm>
            <a:off x="4288950" y="2082800"/>
            <a:ext cx="3792822" cy="1260525"/>
          </a:xfrm>
          <a:prstGeom prst="rect">
            <a:avLst/>
          </a:prstGeom>
          <a:noFill/>
          <a:ln>
            <a:noFill/>
          </a:ln>
        </p:spPr>
      </p:pic>
      <p:sp>
        <p:nvSpPr>
          <p:cNvPr id="58" name="Google Shape;58;p13"/>
          <p:cNvSpPr txBox="1"/>
          <p:nvPr/>
        </p:nvSpPr>
        <p:spPr>
          <a:xfrm>
            <a:off x="308400" y="3824400"/>
            <a:ext cx="72753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dk1"/>
                </a:solidFill>
                <a:latin typeface="Roboto ExtraBold"/>
                <a:ea typeface="Roboto ExtraBold"/>
                <a:cs typeface="Roboto ExtraBold"/>
                <a:sym typeface="Roboto ExtraBold"/>
              </a:rPr>
              <a:t>A Fast Casual Business Analysis</a:t>
            </a:r>
            <a:endParaRPr sz="3200">
              <a:solidFill>
                <a:schemeClr val="dk1"/>
              </a:solidFill>
              <a:latin typeface="Roboto ExtraBold"/>
              <a:ea typeface="Roboto ExtraBold"/>
              <a:cs typeface="Roboto ExtraBold"/>
              <a:sym typeface="Roboto ExtraBold"/>
            </a:endParaRPr>
          </a:p>
          <a:p>
            <a:pPr indent="0" lvl="0" marL="0" rtl="0" algn="l">
              <a:spcBef>
                <a:spcPts val="0"/>
              </a:spcBef>
              <a:spcAft>
                <a:spcPts val="0"/>
              </a:spcAft>
              <a:buNone/>
            </a:pPr>
            <a:r>
              <a:rPr lang="en" sz="3200">
                <a:solidFill>
                  <a:schemeClr val="dk1"/>
                </a:solidFill>
                <a:latin typeface="Roboto ExtraBold"/>
                <a:ea typeface="Roboto ExtraBold"/>
                <a:cs typeface="Roboto ExtraBold"/>
                <a:sym typeface="Roboto ExtraBold"/>
              </a:rPr>
              <a:t>By David Doctor</a:t>
            </a:r>
            <a:endParaRPr sz="3200">
              <a:solidFill>
                <a:schemeClr val="dk1"/>
              </a:solidFill>
              <a:latin typeface="Roboto ExtraBold"/>
              <a:ea typeface="Roboto ExtraBold"/>
              <a:cs typeface="Roboto ExtraBold"/>
              <a:sym typeface="Roboto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Project Overview</a:t>
            </a:r>
            <a:endParaRPr sz="3220">
              <a:latin typeface="Roboto ExtraBold"/>
              <a:ea typeface="Roboto ExtraBold"/>
              <a:cs typeface="Roboto ExtraBold"/>
              <a:sym typeface="Roboto ExtraBold"/>
            </a:endParaRPr>
          </a:p>
        </p:txBody>
      </p:sp>
      <p:sp>
        <p:nvSpPr>
          <p:cNvPr id="64" name="Google Shape;64;p14"/>
          <p:cNvSpPr txBox="1"/>
          <p:nvPr>
            <p:ph idx="1" type="body"/>
          </p:nvPr>
        </p:nvSpPr>
        <p:spPr>
          <a:xfrm>
            <a:off x="136075" y="1435576"/>
            <a:ext cx="4260300" cy="359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I chose this fast casual restaurant as it was and still is a favorite establishment for me to eat at. Cooking and assembly of the bowl is done in front of the customer so it’s also very easy to analyze all the operations within the restaurant. </a:t>
            </a:r>
            <a:endParaRPr sz="1500">
              <a:solidFill>
                <a:schemeClr val="dk1"/>
              </a:solidFill>
              <a:latin typeface="Times New Roman"/>
              <a:ea typeface="Times New Roman"/>
              <a:cs typeface="Times New Roman"/>
              <a:sym typeface="Times New Roman"/>
            </a:endParaRPr>
          </a:p>
        </p:txBody>
      </p:sp>
      <p:sp>
        <p:nvSpPr>
          <p:cNvPr id="65" name="Google Shape;65;p14"/>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Why CAVA?</a:t>
            </a:r>
            <a:endParaRPr sz="2520">
              <a:latin typeface="Roboto ExtraBold"/>
              <a:ea typeface="Roboto ExtraBold"/>
              <a:cs typeface="Roboto ExtraBold"/>
              <a:sym typeface="Roboto ExtraBold"/>
            </a:endParaRPr>
          </a:p>
        </p:txBody>
      </p:sp>
      <p:sp>
        <p:nvSpPr>
          <p:cNvPr id="66" name="Google Shape;66;p14"/>
          <p:cNvSpPr txBox="1"/>
          <p:nvPr>
            <p:ph idx="1" type="body"/>
          </p:nvPr>
        </p:nvSpPr>
        <p:spPr>
          <a:xfrm>
            <a:off x="4470400" y="1435576"/>
            <a:ext cx="4260300" cy="3590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As I’ve been here many times before I already know how the ordering process works. Kind of like Chipotle and Qdoba, this place uses an assembly line type of system </a:t>
            </a:r>
            <a:r>
              <a:rPr lang="en" sz="1500">
                <a:solidFill>
                  <a:schemeClr val="dk1"/>
                </a:solidFill>
                <a:latin typeface="Times New Roman"/>
                <a:ea typeface="Times New Roman"/>
                <a:cs typeface="Times New Roman"/>
                <a:sym typeface="Times New Roman"/>
              </a:rPr>
              <a:t>where</a:t>
            </a:r>
            <a:r>
              <a:rPr lang="en" sz="1500">
                <a:solidFill>
                  <a:schemeClr val="dk1"/>
                </a:solidFill>
                <a:latin typeface="Times New Roman"/>
                <a:ea typeface="Times New Roman"/>
                <a:cs typeface="Times New Roman"/>
                <a:sym typeface="Times New Roman"/>
              </a:rPr>
              <a:t> you work your way down through various toppings to create your bowl and </a:t>
            </a:r>
            <a:r>
              <a:rPr lang="en" sz="1500">
                <a:solidFill>
                  <a:schemeClr val="dk1"/>
                </a:solidFill>
                <a:latin typeface="Times New Roman"/>
                <a:ea typeface="Times New Roman"/>
                <a:cs typeface="Times New Roman"/>
                <a:sym typeface="Times New Roman"/>
              </a:rPr>
              <a:t>receive your food at the end of the line where the cashier rings you up.</a:t>
            </a:r>
            <a:endParaRPr sz="1500">
              <a:solidFill>
                <a:schemeClr val="dk1"/>
              </a:solidFill>
              <a:latin typeface="Times New Roman"/>
              <a:ea typeface="Times New Roman"/>
              <a:cs typeface="Times New Roman"/>
              <a:sym typeface="Times New Roman"/>
            </a:endParaRPr>
          </a:p>
        </p:txBody>
      </p:sp>
      <p:sp>
        <p:nvSpPr>
          <p:cNvPr id="67" name="Google Shape;67;p14"/>
          <p:cNvSpPr txBox="1"/>
          <p:nvPr>
            <p:ph type="title"/>
          </p:nvPr>
        </p:nvSpPr>
        <p:spPr>
          <a:xfrm>
            <a:off x="4470400"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Expectations</a:t>
            </a:r>
            <a:endParaRPr sz="2520">
              <a:latin typeface="Roboto ExtraBold"/>
              <a:ea typeface="Roboto ExtraBold"/>
              <a:cs typeface="Roboto ExtraBold"/>
              <a:sym typeface="Roboto ExtraBold"/>
            </a:endParaRPr>
          </a:p>
        </p:txBody>
      </p:sp>
      <p:pic>
        <p:nvPicPr>
          <p:cNvPr id="68" name="Google Shape;68;p14"/>
          <p:cNvPicPr preferRelativeResize="0"/>
          <p:nvPr/>
        </p:nvPicPr>
        <p:blipFill>
          <a:blip r:embed="rId3">
            <a:alphaModFix/>
          </a:blip>
          <a:stretch>
            <a:fillRect/>
          </a:stretch>
        </p:blipFill>
        <p:spPr>
          <a:xfrm rot="-6347400">
            <a:off x="6404877" y="-1020497"/>
            <a:ext cx="4103120" cy="4103120"/>
          </a:xfrm>
          <a:prstGeom prst="rect">
            <a:avLst/>
          </a:prstGeom>
          <a:noFill/>
          <a:ln>
            <a:noFill/>
          </a:ln>
          <a:effectLst>
            <a:outerShdw blurRad="57150" rotWithShape="0" algn="bl" dist="15240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Project Overview</a:t>
            </a:r>
            <a:endParaRPr sz="3220">
              <a:latin typeface="Roboto ExtraBold"/>
              <a:ea typeface="Roboto ExtraBold"/>
              <a:cs typeface="Roboto ExtraBold"/>
              <a:sym typeface="Roboto ExtraBold"/>
            </a:endParaRPr>
          </a:p>
        </p:txBody>
      </p:sp>
      <p:sp>
        <p:nvSpPr>
          <p:cNvPr id="74" name="Google Shape;74;p15"/>
          <p:cNvSpPr txBox="1"/>
          <p:nvPr>
            <p:ph idx="1" type="body"/>
          </p:nvPr>
        </p:nvSpPr>
        <p:spPr>
          <a:xfrm>
            <a:off x="136075" y="1435575"/>
            <a:ext cx="4260300" cy="1820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Cava Grill makes custom made Mediterranean bowls with in-house made drinks, sides, and desserts. They offer catering services and delivery as well</a:t>
            </a:r>
            <a:endParaRPr sz="1500">
              <a:solidFill>
                <a:schemeClr val="dk1"/>
              </a:solidFill>
              <a:latin typeface="Times New Roman"/>
              <a:ea typeface="Times New Roman"/>
              <a:cs typeface="Times New Roman"/>
              <a:sym typeface="Times New Roman"/>
            </a:endParaRPr>
          </a:p>
        </p:txBody>
      </p:sp>
      <p:sp>
        <p:nvSpPr>
          <p:cNvPr id="75" name="Google Shape;75;p15"/>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What do they produce?</a:t>
            </a:r>
            <a:endParaRPr sz="2520">
              <a:latin typeface="Roboto ExtraBold"/>
              <a:ea typeface="Roboto ExtraBold"/>
              <a:cs typeface="Roboto ExtraBold"/>
              <a:sym typeface="Roboto ExtraBold"/>
            </a:endParaRPr>
          </a:p>
        </p:txBody>
      </p:sp>
      <p:sp>
        <p:nvSpPr>
          <p:cNvPr id="76" name="Google Shape;76;p15"/>
          <p:cNvSpPr txBox="1"/>
          <p:nvPr>
            <p:ph idx="1" type="body"/>
          </p:nvPr>
        </p:nvSpPr>
        <p:spPr>
          <a:xfrm>
            <a:off x="4470400" y="1435575"/>
            <a:ext cx="4260300" cy="175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I </a:t>
            </a:r>
            <a:r>
              <a:rPr lang="en" sz="1500">
                <a:solidFill>
                  <a:schemeClr val="dk1"/>
                </a:solidFill>
                <a:latin typeface="Times New Roman"/>
                <a:ea typeface="Times New Roman"/>
                <a:cs typeface="Times New Roman"/>
                <a:sym typeface="Times New Roman"/>
              </a:rPr>
              <a:t>observed</a:t>
            </a:r>
            <a:r>
              <a:rPr lang="en" sz="1500">
                <a:solidFill>
                  <a:schemeClr val="dk1"/>
                </a:solidFill>
                <a:latin typeface="Times New Roman"/>
                <a:ea typeface="Times New Roman"/>
                <a:cs typeface="Times New Roman"/>
                <a:sym typeface="Times New Roman"/>
              </a:rPr>
              <a:t> how orders were made, how signs convey information to both staff and customers, and how cooks and team members manage their workspace.</a:t>
            </a:r>
            <a:endParaRPr sz="1500">
              <a:solidFill>
                <a:schemeClr val="dk1"/>
              </a:solidFill>
              <a:latin typeface="Times New Roman"/>
              <a:ea typeface="Times New Roman"/>
              <a:cs typeface="Times New Roman"/>
              <a:sym typeface="Times New Roman"/>
            </a:endParaRPr>
          </a:p>
        </p:txBody>
      </p:sp>
      <p:sp>
        <p:nvSpPr>
          <p:cNvPr id="77" name="Google Shape;77;p15"/>
          <p:cNvSpPr txBox="1"/>
          <p:nvPr>
            <p:ph type="title"/>
          </p:nvPr>
        </p:nvSpPr>
        <p:spPr>
          <a:xfrm>
            <a:off x="4470400" y="833775"/>
            <a:ext cx="4110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What task did I observe?</a:t>
            </a:r>
            <a:endParaRPr sz="2520">
              <a:latin typeface="Roboto ExtraBold"/>
              <a:ea typeface="Roboto ExtraBold"/>
              <a:cs typeface="Roboto ExtraBold"/>
              <a:sym typeface="Roboto ExtraBold"/>
            </a:endParaRPr>
          </a:p>
        </p:txBody>
      </p:sp>
      <p:sp>
        <p:nvSpPr>
          <p:cNvPr id="78" name="Google Shape;78;p15"/>
          <p:cNvSpPr txBox="1"/>
          <p:nvPr>
            <p:ph type="title"/>
          </p:nvPr>
        </p:nvSpPr>
        <p:spPr>
          <a:xfrm>
            <a:off x="136075" y="3255975"/>
            <a:ext cx="87591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520">
                <a:latin typeface="Roboto ExtraBold"/>
                <a:ea typeface="Roboto ExtraBold"/>
                <a:cs typeface="Roboto ExtraBold"/>
                <a:sym typeface="Roboto ExtraBold"/>
              </a:rPr>
              <a:t>What was my role in the information system?</a:t>
            </a:r>
            <a:endParaRPr sz="2520">
              <a:latin typeface="Roboto ExtraBold"/>
              <a:ea typeface="Roboto ExtraBold"/>
              <a:cs typeface="Roboto ExtraBold"/>
              <a:sym typeface="Roboto ExtraBold"/>
            </a:endParaRPr>
          </a:p>
          <a:p>
            <a:pPr indent="0" lvl="0" marL="0" rtl="0" algn="l">
              <a:spcBef>
                <a:spcPts val="0"/>
              </a:spcBef>
              <a:spcAft>
                <a:spcPts val="0"/>
              </a:spcAft>
              <a:buSzPts val="990"/>
              <a:buNone/>
            </a:pPr>
            <a:r>
              <a:t/>
            </a:r>
            <a:endParaRPr sz="2520">
              <a:latin typeface="Roboto ExtraBold"/>
              <a:ea typeface="Roboto ExtraBold"/>
              <a:cs typeface="Roboto ExtraBold"/>
              <a:sym typeface="Roboto ExtraBold"/>
            </a:endParaRPr>
          </a:p>
        </p:txBody>
      </p:sp>
      <p:sp>
        <p:nvSpPr>
          <p:cNvPr id="79" name="Google Shape;79;p15"/>
          <p:cNvSpPr txBox="1"/>
          <p:nvPr>
            <p:ph idx="1" type="body"/>
          </p:nvPr>
        </p:nvSpPr>
        <p:spPr>
          <a:xfrm>
            <a:off x="210100" y="3857775"/>
            <a:ext cx="8685000" cy="115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My role in the information system was the customer. Just like everyone else, I ordered my own custom bowl and ate it in store, although I have noticed that most people do tend to take-out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Research Method</a:t>
            </a:r>
            <a:endParaRPr sz="3220">
              <a:latin typeface="Roboto ExtraBold"/>
              <a:ea typeface="Roboto ExtraBold"/>
              <a:cs typeface="Roboto ExtraBold"/>
              <a:sym typeface="Roboto ExtraBold"/>
            </a:endParaRPr>
          </a:p>
        </p:txBody>
      </p:sp>
      <p:sp>
        <p:nvSpPr>
          <p:cNvPr id="85" name="Google Shape;85;p16"/>
          <p:cNvSpPr txBox="1"/>
          <p:nvPr>
            <p:ph idx="1" type="body"/>
          </p:nvPr>
        </p:nvSpPr>
        <p:spPr>
          <a:xfrm>
            <a:off x="136075" y="1435575"/>
            <a:ext cx="4260300" cy="1820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I first </a:t>
            </a:r>
            <a:r>
              <a:rPr lang="en" sz="1500">
                <a:solidFill>
                  <a:schemeClr val="dk1"/>
                </a:solidFill>
                <a:latin typeface="Times New Roman"/>
                <a:ea typeface="Times New Roman"/>
                <a:cs typeface="Times New Roman"/>
                <a:sym typeface="Times New Roman"/>
              </a:rPr>
              <a:t>visited</a:t>
            </a:r>
            <a:r>
              <a:rPr lang="en" sz="1500">
                <a:solidFill>
                  <a:schemeClr val="dk1"/>
                </a:solidFill>
                <a:latin typeface="Times New Roman"/>
                <a:ea typeface="Times New Roman"/>
                <a:cs typeface="Times New Roman"/>
                <a:sym typeface="Times New Roman"/>
              </a:rPr>
              <a:t> Cava Grill on a weekday at around 6PM as this was around dinner time and I would be able to see how it can operate during peak hours and plenty of staff and customers. I </a:t>
            </a:r>
            <a:r>
              <a:rPr lang="en" sz="1500">
                <a:solidFill>
                  <a:schemeClr val="dk1"/>
                </a:solidFill>
                <a:latin typeface="Times New Roman"/>
                <a:ea typeface="Times New Roman"/>
                <a:cs typeface="Times New Roman"/>
                <a:sym typeface="Times New Roman"/>
              </a:rPr>
              <a:t>visited</a:t>
            </a:r>
            <a:r>
              <a:rPr lang="en" sz="1500">
                <a:solidFill>
                  <a:schemeClr val="dk1"/>
                </a:solidFill>
                <a:latin typeface="Times New Roman"/>
                <a:ea typeface="Times New Roman"/>
                <a:cs typeface="Times New Roman"/>
                <a:sym typeface="Times New Roman"/>
              </a:rPr>
              <a:t> the establishment on Tuesday February 11th 6PM, and a second time on February 12th at 3PM.</a:t>
            </a:r>
            <a:endParaRPr sz="1500">
              <a:solidFill>
                <a:schemeClr val="dk1"/>
              </a:solidFill>
              <a:latin typeface="Times New Roman"/>
              <a:ea typeface="Times New Roman"/>
              <a:cs typeface="Times New Roman"/>
              <a:sym typeface="Times New Roman"/>
            </a:endParaRPr>
          </a:p>
        </p:txBody>
      </p:sp>
      <p:sp>
        <p:nvSpPr>
          <p:cNvPr id="86" name="Google Shape;86;p16"/>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Date &amp; Time</a:t>
            </a:r>
            <a:endParaRPr sz="2520">
              <a:latin typeface="Roboto ExtraBold"/>
              <a:ea typeface="Roboto ExtraBold"/>
              <a:cs typeface="Roboto ExtraBold"/>
              <a:sym typeface="Roboto ExtraBold"/>
            </a:endParaRPr>
          </a:p>
        </p:txBody>
      </p:sp>
      <p:sp>
        <p:nvSpPr>
          <p:cNvPr id="87" name="Google Shape;87;p16"/>
          <p:cNvSpPr txBox="1"/>
          <p:nvPr>
            <p:ph idx="1" type="body"/>
          </p:nvPr>
        </p:nvSpPr>
        <p:spPr>
          <a:xfrm>
            <a:off x="4470400" y="1435575"/>
            <a:ext cx="4260300" cy="175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I was able to take and enjoy my own order while taking pictures of the establishment. I also walked around and sketched out a map. Unfortunately they did not allow me to go into the back to take more pictures.</a:t>
            </a:r>
            <a:endParaRPr sz="1500">
              <a:solidFill>
                <a:schemeClr val="dk1"/>
              </a:solidFill>
              <a:latin typeface="Times New Roman"/>
              <a:ea typeface="Times New Roman"/>
              <a:cs typeface="Times New Roman"/>
              <a:sym typeface="Times New Roman"/>
            </a:endParaRPr>
          </a:p>
        </p:txBody>
      </p:sp>
      <p:sp>
        <p:nvSpPr>
          <p:cNvPr id="88" name="Google Shape;88;p16"/>
          <p:cNvSpPr txBox="1"/>
          <p:nvPr>
            <p:ph type="title"/>
          </p:nvPr>
        </p:nvSpPr>
        <p:spPr>
          <a:xfrm>
            <a:off x="4470400" y="833775"/>
            <a:ext cx="4110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Observation Method</a:t>
            </a:r>
            <a:endParaRPr sz="2520">
              <a:latin typeface="Roboto ExtraBold"/>
              <a:ea typeface="Roboto ExtraBold"/>
              <a:cs typeface="Roboto ExtraBold"/>
              <a:sym typeface="Roboto ExtraBold"/>
            </a:endParaRPr>
          </a:p>
        </p:txBody>
      </p:sp>
      <p:sp>
        <p:nvSpPr>
          <p:cNvPr id="89" name="Google Shape;89;p16"/>
          <p:cNvSpPr txBox="1"/>
          <p:nvPr>
            <p:ph type="title"/>
          </p:nvPr>
        </p:nvSpPr>
        <p:spPr>
          <a:xfrm>
            <a:off x="136075" y="3255975"/>
            <a:ext cx="87591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520">
                <a:latin typeface="Roboto ExtraBold"/>
                <a:ea typeface="Roboto ExtraBold"/>
                <a:cs typeface="Roboto ExtraBold"/>
                <a:sym typeface="Roboto ExtraBold"/>
              </a:rPr>
              <a:t>Data Generated</a:t>
            </a:r>
            <a:endParaRPr sz="2520">
              <a:latin typeface="Roboto ExtraBold"/>
              <a:ea typeface="Roboto ExtraBold"/>
              <a:cs typeface="Roboto ExtraBold"/>
              <a:sym typeface="Roboto ExtraBold"/>
            </a:endParaRPr>
          </a:p>
          <a:p>
            <a:pPr indent="0" lvl="0" marL="0" rtl="0" algn="l">
              <a:spcBef>
                <a:spcPts val="0"/>
              </a:spcBef>
              <a:spcAft>
                <a:spcPts val="0"/>
              </a:spcAft>
              <a:buSzPts val="990"/>
              <a:buNone/>
            </a:pPr>
            <a:r>
              <a:t/>
            </a:r>
            <a:endParaRPr sz="2520">
              <a:latin typeface="Roboto ExtraBold"/>
              <a:ea typeface="Roboto ExtraBold"/>
              <a:cs typeface="Roboto ExtraBold"/>
              <a:sym typeface="Roboto ExtraBold"/>
            </a:endParaRPr>
          </a:p>
        </p:txBody>
      </p:sp>
      <p:sp>
        <p:nvSpPr>
          <p:cNvPr id="90" name="Google Shape;90;p16"/>
          <p:cNvSpPr txBox="1"/>
          <p:nvPr>
            <p:ph idx="1" type="body"/>
          </p:nvPr>
        </p:nvSpPr>
        <p:spPr>
          <a:xfrm>
            <a:off x="210100" y="3857775"/>
            <a:ext cx="8685000" cy="1155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I took pictures, sketched a map, and ordered from the restaurant</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86500" y="-90437"/>
            <a:ext cx="5450225" cy="5450225"/>
          </a:xfrm>
          <a:prstGeom prst="rect">
            <a:avLst/>
          </a:prstGeom>
          <a:noFill/>
          <a:ln>
            <a:noFill/>
          </a:ln>
        </p:spPr>
      </p:pic>
      <p:sp>
        <p:nvSpPr>
          <p:cNvPr id="96" name="Google Shape;96;p17"/>
          <p:cNvSpPr txBox="1"/>
          <p:nvPr/>
        </p:nvSpPr>
        <p:spPr>
          <a:xfrm>
            <a:off x="3578350" y="994100"/>
            <a:ext cx="56790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100">
                <a:solidFill>
                  <a:schemeClr val="dk1"/>
                </a:solidFill>
                <a:latin typeface="Roboto ExtraBold"/>
                <a:ea typeface="Roboto ExtraBold"/>
                <a:cs typeface="Roboto ExtraBold"/>
                <a:sym typeface="Roboto ExtraBold"/>
              </a:rPr>
              <a:t>Research Data </a:t>
            </a:r>
            <a:endParaRPr sz="6100">
              <a:solidFill>
                <a:schemeClr val="dk1"/>
              </a:solidFill>
              <a:latin typeface="Roboto ExtraBold"/>
              <a:ea typeface="Roboto ExtraBold"/>
              <a:cs typeface="Roboto ExtraBold"/>
              <a:sym typeface="Roboto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Layout</a:t>
            </a:r>
            <a:endParaRPr sz="3220">
              <a:latin typeface="Roboto ExtraBold"/>
              <a:ea typeface="Roboto ExtraBold"/>
              <a:cs typeface="Roboto ExtraBold"/>
              <a:sym typeface="Roboto ExtraBold"/>
            </a:endParaRPr>
          </a:p>
        </p:txBody>
      </p:sp>
      <p:pic>
        <p:nvPicPr>
          <p:cNvPr id="102" name="Google Shape;102;p18" title="Untitled Notebook-2.jpg"/>
          <p:cNvPicPr preferRelativeResize="0"/>
          <p:nvPr/>
        </p:nvPicPr>
        <p:blipFill>
          <a:blip r:embed="rId3">
            <a:alphaModFix/>
          </a:blip>
          <a:stretch>
            <a:fillRect/>
          </a:stretch>
        </p:blipFill>
        <p:spPr>
          <a:xfrm>
            <a:off x="4732400" y="125825"/>
            <a:ext cx="3697500" cy="4783621"/>
          </a:xfrm>
          <a:prstGeom prst="rect">
            <a:avLst/>
          </a:prstGeom>
          <a:noFill/>
          <a:ln>
            <a:noFill/>
          </a:ln>
        </p:spPr>
      </p:pic>
      <p:pic>
        <p:nvPicPr>
          <p:cNvPr id="103" name="Google Shape;103;p18" title="IMG_4168.JPG"/>
          <p:cNvPicPr preferRelativeResize="0"/>
          <p:nvPr/>
        </p:nvPicPr>
        <p:blipFill>
          <a:blip r:embed="rId4">
            <a:alphaModFix/>
          </a:blip>
          <a:stretch>
            <a:fillRect/>
          </a:stretch>
        </p:blipFill>
        <p:spPr>
          <a:xfrm>
            <a:off x="183850" y="911400"/>
            <a:ext cx="4427602" cy="33207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idx="1" type="body"/>
          </p:nvPr>
        </p:nvSpPr>
        <p:spPr>
          <a:xfrm>
            <a:off x="159675" y="779322"/>
            <a:ext cx="4260300" cy="1631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Entering immediately shows you the ordering counter and the menu, or if you want to meet up with friends or pick up an order, you can walk straight ahead and head to those areas of the store</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pic>
        <p:nvPicPr>
          <p:cNvPr id="109" name="Google Shape;109;p19" title="IMG_4167.JPG"/>
          <p:cNvPicPr preferRelativeResize="0"/>
          <p:nvPr/>
        </p:nvPicPr>
        <p:blipFill rotWithShape="1">
          <a:blip r:embed="rId3">
            <a:alphaModFix/>
          </a:blip>
          <a:srcRect b="21997" l="0" r="0" t="0"/>
          <a:stretch/>
        </p:blipFill>
        <p:spPr>
          <a:xfrm>
            <a:off x="249025" y="2658337"/>
            <a:ext cx="4081603" cy="2351724"/>
          </a:xfrm>
          <a:prstGeom prst="rect">
            <a:avLst/>
          </a:prstGeom>
          <a:noFill/>
          <a:ln>
            <a:noFill/>
          </a:ln>
        </p:spPr>
      </p:pic>
      <p:pic>
        <p:nvPicPr>
          <p:cNvPr id="110" name="Google Shape;110;p19" title="IMG_4174.JPG"/>
          <p:cNvPicPr preferRelativeResize="0"/>
          <p:nvPr/>
        </p:nvPicPr>
        <p:blipFill rotWithShape="1">
          <a:blip r:embed="rId4">
            <a:alphaModFix/>
          </a:blip>
          <a:srcRect b="0" l="0" r="0" t="27907"/>
          <a:stretch/>
        </p:blipFill>
        <p:spPr>
          <a:xfrm>
            <a:off x="4572000" y="157463"/>
            <a:ext cx="4416148" cy="2351724"/>
          </a:xfrm>
          <a:prstGeom prst="rect">
            <a:avLst/>
          </a:prstGeom>
          <a:noFill/>
          <a:ln>
            <a:noFill/>
          </a:ln>
        </p:spPr>
      </p:pic>
      <p:sp>
        <p:nvSpPr>
          <p:cNvPr id="111" name="Google Shape;111;p19"/>
          <p:cNvSpPr txBox="1"/>
          <p:nvPr>
            <p:ph idx="1" type="body"/>
          </p:nvPr>
        </p:nvSpPr>
        <p:spPr>
          <a:xfrm>
            <a:off x="4736100" y="2756900"/>
            <a:ext cx="4260300" cy="21546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This corner is specifically for when there’s a long line and allows people to form a queue on their own, the barrier is permanent and conveys the information of being used for a queue. The drinks on the side also allows people to grab a drink while waiting in line.</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12" name="Google Shape;112;p19"/>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Entrance</a:t>
            </a:r>
            <a:endParaRPr sz="3220">
              <a:latin typeface="Roboto ExtraBold"/>
              <a:ea typeface="Roboto ExtraBold"/>
              <a:cs typeface="Roboto ExtraBold"/>
              <a:sym typeface="Roboto Extra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0" title="IMG_4180.JPG"/>
          <p:cNvPicPr preferRelativeResize="0"/>
          <p:nvPr/>
        </p:nvPicPr>
        <p:blipFill rotWithShape="1">
          <a:blip r:embed="rId3">
            <a:alphaModFix/>
          </a:blip>
          <a:srcRect b="11692" l="10944" r="6642" t="22841"/>
          <a:stretch/>
        </p:blipFill>
        <p:spPr>
          <a:xfrm>
            <a:off x="4062175" y="133775"/>
            <a:ext cx="4337449" cy="2446875"/>
          </a:xfrm>
          <a:prstGeom prst="rect">
            <a:avLst/>
          </a:prstGeom>
          <a:noFill/>
          <a:ln>
            <a:noFill/>
          </a:ln>
        </p:spPr>
      </p:pic>
      <p:sp>
        <p:nvSpPr>
          <p:cNvPr id="118" name="Google Shape;118;p20"/>
          <p:cNvSpPr txBox="1"/>
          <p:nvPr/>
        </p:nvSpPr>
        <p:spPr>
          <a:xfrm>
            <a:off x="94475" y="692725"/>
            <a:ext cx="3660300" cy="42114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The menu has two parts, the Chef-Curated and Build Your Own. The Chef Curated section of the menu shows both Pita and Bowl options, with the name of the item, the price, calorie count, and description of the item. It of course, </a:t>
            </a:r>
            <a:r>
              <a:rPr lang="en" sz="1200">
                <a:solidFill>
                  <a:schemeClr val="dk1"/>
                </a:solidFill>
                <a:latin typeface="Times New Roman"/>
                <a:ea typeface="Times New Roman"/>
                <a:cs typeface="Times New Roman"/>
                <a:sym typeface="Times New Roman"/>
              </a:rPr>
              <a:t>separates</a:t>
            </a:r>
            <a:r>
              <a:rPr lang="en" sz="1200">
                <a:solidFill>
                  <a:schemeClr val="dk1"/>
                </a:solidFill>
                <a:latin typeface="Times New Roman"/>
                <a:ea typeface="Times New Roman"/>
                <a:cs typeface="Times New Roman"/>
                <a:sym typeface="Times New Roman"/>
              </a:rPr>
              <a:t> the menu by Bowl and Pita. The Build Your Own section shows the price, allows you to pick your base and shows what the steps are to building your dish. Along the assembly line there are mini menus that show what your options are for dips, meats, etc. Each topping has calorie information, spice level, description, and a fun-fact about pronunciation.</a:t>
            </a:r>
            <a:endParaRPr sz="1200">
              <a:solidFill>
                <a:schemeClr val="dk1"/>
              </a:solidFill>
              <a:latin typeface="Times New Roman"/>
              <a:ea typeface="Times New Roman"/>
              <a:cs typeface="Times New Roman"/>
              <a:sym typeface="Times New Roman"/>
            </a:endParaRPr>
          </a:p>
        </p:txBody>
      </p:sp>
      <p:sp>
        <p:nvSpPr>
          <p:cNvPr id="119" name="Google Shape;119;p20"/>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Menu</a:t>
            </a:r>
            <a:endParaRPr sz="3220">
              <a:latin typeface="Roboto ExtraBold"/>
              <a:ea typeface="Roboto ExtraBold"/>
              <a:cs typeface="Roboto ExtraBold"/>
              <a:sym typeface="Roboto ExtraBold"/>
            </a:endParaRPr>
          </a:p>
        </p:txBody>
      </p:sp>
      <p:pic>
        <p:nvPicPr>
          <p:cNvPr id="120" name="Google Shape;120;p20" title="IMG_4182.JPG"/>
          <p:cNvPicPr preferRelativeResize="0"/>
          <p:nvPr/>
        </p:nvPicPr>
        <p:blipFill>
          <a:blip r:embed="rId4">
            <a:alphaModFix/>
          </a:blip>
          <a:stretch>
            <a:fillRect/>
          </a:stretch>
        </p:blipFill>
        <p:spPr>
          <a:xfrm>
            <a:off x="4508069" y="2638375"/>
            <a:ext cx="3445663" cy="2446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nvSpPr>
        <p:spPr>
          <a:xfrm>
            <a:off x="154675" y="684850"/>
            <a:ext cx="3660300" cy="42114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The Pickup Shelf is clearly marked with yellow </a:t>
            </a:r>
            <a:r>
              <a:rPr lang="en" sz="1200">
                <a:solidFill>
                  <a:schemeClr val="dk1"/>
                </a:solidFill>
                <a:latin typeface="Times New Roman"/>
                <a:ea typeface="Times New Roman"/>
                <a:cs typeface="Times New Roman"/>
                <a:sym typeface="Times New Roman"/>
              </a:rPr>
              <a:t>signage and stickers along the nearby pillar. The shelf is then split into two sections, one for pickup and another for delivery where GrubHub and other drivers can grab their orders without asking. There is also additional information posted on paper for the delivery drivers in the event that delivery orders aren’t on the shelf. The papers are in both English and Spanish</a:t>
            </a:r>
            <a:endParaRPr sz="1200">
              <a:solidFill>
                <a:schemeClr val="dk1"/>
              </a:solidFill>
              <a:latin typeface="Times New Roman"/>
              <a:ea typeface="Times New Roman"/>
              <a:cs typeface="Times New Roman"/>
              <a:sym typeface="Times New Roman"/>
            </a:endParaRPr>
          </a:p>
        </p:txBody>
      </p:sp>
      <p:sp>
        <p:nvSpPr>
          <p:cNvPr id="126" name="Google Shape;126;p21"/>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Pickup</a:t>
            </a:r>
            <a:endParaRPr sz="3220">
              <a:latin typeface="Roboto ExtraBold"/>
              <a:ea typeface="Roboto ExtraBold"/>
              <a:cs typeface="Roboto ExtraBold"/>
              <a:sym typeface="Roboto ExtraBold"/>
            </a:endParaRPr>
          </a:p>
        </p:txBody>
      </p:sp>
      <p:pic>
        <p:nvPicPr>
          <p:cNvPr id="127" name="Google Shape;127;p21" title="IMG_4194.JPG"/>
          <p:cNvPicPr preferRelativeResize="0"/>
          <p:nvPr/>
        </p:nvPicPr>
        <p:blipFill>
          <a:blip r:embed="rId3">
            <a:alphaModFix/>
          </a:blip>
          <a:stretch>
            <a:fillRect/>
          </a:stretch>
        </p:blipFill>
        <p:spPr>
          <a:xfrm>
            <a:off x="3833575" y="2424834"/>
            <a:ext cx="3577953" cy="2639877"/>
          </a:xfrm>
          <a:prstGeom prst="rect">
            <a:avLst/>
          </a:prstGeom>
          <a:noFill/>
          <a:ln>
            <a:noFill/>
          </a:ln>
        </p:spPr>
      </p:pic>
      <p:pic>
        <p:nvPicPr>
          <p:cNvPr id="128" name="Google Shape;128;p21" title="IMG_4175.JPG"/>
          <p:cNvPicPr preferRelativeResize="0"/>
          <p:nvPr/>
        </p:nvPicPr>
        <p:blipFill>
          <a:blip r:embed="rId4">
            <a:alphaModFix/>
          </a:blip>
          <a:stretch>
            <a:fillRect/>
          </a:stretch>
        </p:blipFill>
        <p:spPr>
          <a:xfrm>
            <a:off x="5463696" y="78788"/>
            <a:ext cx="3577953" cy="263986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 type="body"/>
          </p:nvPr>
        </p:nvSpPr>
        <p:spPr>
          <a:xfrm>
            <a:off x="57425" y="707775"/>
            <a:ext cx="5248200" cy="2022000"/>
          </a:xfrm>
          <a:prstGeom prst="rect">
            <a:avLst/>
          </a:prstGeom>
        </p:spPr>
        <p:txBody>
          <a:bodyPr anchorCtr="0" anchor="t" bIns="91425" lIns="91425" spcFirstLastPara="1" rIns="91425" wrap="square" tIns="91425">
            <a:normAutofit lnSpcReduction="20000"/>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Unfortunately I was unable to get behind the counter to gather more insight on the employee guides scattered around the kitchen but based off what I was able to infer from investigating from the front, employees are given a daily roster to keep track of shifts during the day, a mid-day checklist to keep track of tasks (this also implies that there’s a checklist for evening and morning shifts), and various laminated cards to help employees to build or prep certain dishes</a:t>
            </a:r>
            <a:endParaRPr sz="1200">
              <a:solidFill>
                <a:schemeClr val="dk1"/>
              </a:solidFill>
              <a:latin typeface="Times New Roman"/>
              <a:ea typeface="Times New Roman"/>
              <a:cs typeface="Times New Roman"/>
              <a:sym typeface="Times New Roman"/>
            </a:endParaRPr>
          </a:p>
        </p:txBody>
      </p:sp>
      <p:sp>
        <p:nvSpPr>
          <p:cNvPr id="134" name="Google Shape;134;p22"/>
          <p:cNvSpPr txBox="1"/>
          <p:nvPr>
            <p:ph type="title"/>
          </p:nvPr>
        </p:nvSpPr>
        <p:spPr>
          <a:xfrm>
            <a:off x="136075" y="63500"/>
            <a:ext cx="369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Employee Guides</a:t>
            </a:r>
            <a:endParaRPr sz="3220">
              <a:latin typeface="Roboto ExtraBold"/>
              <a:ea typeface="Roboto ExtraBold"/>
              <a:cs typeface="Roboto ExtraBold"/>
              <a:sym typeface="Roboto ExtraBold"/>
            </a:endParaRPr>
          </a:p>
        </p:txBody>
      </p:sp>
      <p:pic>
        <p:nvPicPr>
          <p:cNvPr id="135" name="Google Shape;135;p22" title="IMG_4186.JPG"/>
          <p:cNvPicPr preferRelativeResize="0"/>
          <p:nvPr/>
        </p:nvPicPr>
        <p:blipFill>
          <a:blip r:embed="rId3">
            <a:alphaModFix/>
          </a:blip>
          <a:stretch>
            <a:fillRect/>
          </a:stretch>
        </p:blipFill>
        <p:spPr>
          <a:xfrm>
            <a:off x="5407773" y="484600"/>
            <a:ext cx="3359324" cy="4479099"/>
          </a:xfrm>
          <a:prstGeom prst="rect">
            <a:avLst/>
          </a:prstGeom>
          <a:noFill/>
          <a:ln>
            <a:noFill/>
          </a:ln>
        </p:spPr>
      </p:pic>
      <p:pic>
        <p:nvPicPr>
          <p:cNvPr id="136" name="Google Shape;136;p22" title="IMG_4188.JPG"/>
          <p:cNvPicPr preferRelativeResize="0"/>
          <p:nvPr/>
        </p:nvPicPr>
        <p:blipFill rotWithShape="1">
          <a:blip r:embed="rId4">
            <a:alphaModFix/>
          </a:blip>
          <a:srcRect b="20004" l="0" r="0" t="42346"/>
          <a:stretch/>
        </p:blipFill>
        <p:spPr>
          <a:xfrm>
            <a:off x="620306" y="2801350"/>
            <a:ext cx="4307520" cy="216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nvSpPr>
        <p:spPr>
          <a:xfrm>
            <a:off x="833525" y="577300"/>
            <a:ext cx="3264000" cy="11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100">
                <a:solidFill>
                  <a:schemeClr val="dk1"/>
                </a:solidFill>
                <a:latin typeface="Roboto ExtraBold"/>
                <a:ea typeface="Roboto ExtraBold"/>
                <a:cs typeface="Roboto ExtraBold"/>
                <a:sym typeface="Roboto ExtraBold"/>
              </a:rPr>
              <a:t>Analysis</a:t>
            </a:r>
            <a:endParaRPr sz="6100">
              <a:solidFill>
                <a:schemeClr val="dk1"/>
              </a:solidFill>
              <a:latin typeface="Roboto ExtraBold"/>
              <a:ea typeface="Roboto ExtraBold"/>
              <a:cs typeface="Roboto ExtraBold"/>
              <a:sym typeface="Roboto ExtraBold"/>
            </a:endParaRPr>
          </a:p>
        </p:txBody>
      </p:sp>
      <p:pic>
        <p:nvPicPr>
          <p:cNvPr id="142" name="Google Shape;142;p23"/>
          <p:cNvPicPr preferRelativeResize="0"/>
          <p:nvPr/>
        </p:nvPicPr>
        <p:blipFill rotWithShape="1">
          <a:blip r:embed="rId3">
            <a:alphaModFix/>
          </a:blip>
          <a:srcRect b="0" l="0" r="0" t="16023"/>
          <a:stretch/>
        </p:blipFill>
        <p:spPr>
          <a:xfrm>
            <a:off x="4438325" y="654825"/>
            <a:ext cx="5345325" cy="4488675"/>
          </a:xfrm>
          <a:prstGeom prst="rect">
            <a:avLst/>
          </a:prstGeom>
          <a:noFill/>
          <a:ln>
            <a:noFill/>
          </a:ln>
        </p:spPr>
      </p:pic>
      <p:pic>
        <p:nvPicPr>
          <p:cNvPr id="143" name="Google Shape;143;p23"/>
          <p:cNvPicPr preferRelativeResize="0"/>
          <p:nvPr/>
        </p:nvPicPr>
        <p:blipFill rotWithShape="1">
          <a:blip r:embed="rId4">
            <a:alphaModFix/>
          </a:blip>
          <a:srcRect b="0" l="0" r="8592" t="14966"/>
          <a:stretch/>
        </p:blipFill>
        <p:spPr>
          <a:xfrm>
            <a:off x="739150" y="1911175"/>
            <a:ext cx="4215574" cy="39214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What is being produced</a:t>
            </a:r>
            <a:endParaRPr sz="3220">
              <a:latin typeface="Roboto ExtraBold"/>
              <a:ea typeface="Roboto ExtraBold"/>
              <a:cs typeface="Roboto ExtraBold"/>
              <a:sym typeface="Roboto ExtraBold"/>
            </a:endParaRPr>
          </a:p>
        </p:txBody>
      </p:sp>
      <p:sp>
        <p:nvSpPr>
          <p:cNvPr id="149" name="Google Shape;149;p24"/>
          <p:cNvSpPr txBox="1"/>
          <p:nvPr>
            <p:ph idx="1" type="body"/>
          </p:nvPr>
        </p:nvSpPr>
        <p:spPr>
          <a:xfrm>
            <a:off x="136075" y="1840325"/>
            <a:ext cx="4260300" cy="3185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The main task here is custom Mediterranean bowls. Each customer has the option to build their own bowl from a variety of options for toppings or pick from a pre-set bowl on the menu. Drinks and sides like pita bread are also available at request</a:t>
            </a:r>
            <a:endParaRPr sz="1700">
              <a:solidFill>
                <a:schemeClr val="dk1"/>
              </a:solidFill>
              <a:latin typeface="Times New Roman"/>
              <a:ea typeface="Times New Roman"/>
              <a:cs typeface="Times New Roman"/>
              <a:sym typeface="Times New Roman"/>
            </a:endParaRPr>
          </a:p>
        </p:txBody>
      </p:sp>
      <p:sp>
        <p:nvSpPr>
          <p:cNvPr id="150" name="Google Shape;150;p24"/>
          <p:cNvSpPr txBox="1"/>
          <p:nvPr>
            <p:ph type="title"/>
          </p:nvPr>
        </p:nvSpPr>
        <p:spPr>
          <a:xfrm>
            <a:off x="136075" y="833775"/>
            <a:ext cx="55659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What is the main task being accomplished?</a:t>
            </a:r>
            <a:endParaRPr sz="2520">
              <a:latin typeface="Roboto ExtraBold"/>
              <a:ea typeface="Roboto ExtraBold"/>
              <a:cs typeface="Roboto ExtraBold"/>
              <a:sym typeface="Roboto ExtraBold"/>
            </a:endParaRPr>
          </a:p>
        </p:txBody>
      </p:sp>
      <p:pic>
        <p:nvPicPr>
          <p:cNvPr id="151" name="Google Shape;151;p24"/>
          <p:cNvPicPr preferRelativeResize="0"/>
          <p:nvPr/>
        </p:nvPicPr>
        <p:blipFill rotWithShape="1">
          <a:blip r:embed="rId3">
            <a:alphaModFix/>
          </a:blip>
          <a:srcRect b="0" l="0" r="0" t="11770"/>
          <a:stretch/>
        </p:blipFill>
        <p:spPr>
          <a:xfrm>
            <a:off x="5400475" y="2448175"/>
            <a:ext cx="3822251" cy="3372326"/>
          </a:xfrm>
          <a:prstGeom prst="rect">
            <a:avLst/>
          </a:prstGeom>
          <a:noFill/>
          <a:ln>
            <a:noFill/>
          </a:ln>
        </p:spPr>
      </p:pic>
      <p:pic>
        <p:nvPicPr>
          <p:cNvPr id="152" name="Google Shape;152;p24"/>
          <p:cNvPicPr preferRelativeResize="0"/>
          <p:nvPr/>
        </p:nvPicPr>
        <p:blipFill>
          <a:blip r:embed="rId4">
            <a:alphaModFix/>
          </a:blip>
          <a:stretch>
            <a:fillRect/>
          </a:stretch>
        </p:blipFill>
        <p:spPr>
          <a:xfrm>
            <a:off x="4958200" y="-418375"/>
            <a:ext cx="2866549" cy="2866550"/>
          </a:xfrm>
          <a:prstGeom prst="rect">
            <a:avLst/>
          </a:prstGeom>
          <a:noFill/>
          <a:ln>
            <a:noFill/>
          </a:ln>
          <a:effectLst>
            <a:outerShdw blurRad="57150" rotWithShape="0" algn="bl" dir="5880000" dist="15240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Social Space</a:t>
            </a:r>
            <a:endParaRPr sz="3220">
              <a:latin typeface="Roboto ExtraBold"/>
              <a:ea typeface="Roboto ExtraBold"/>
              <a:cs typeface="Roboto ExtraBold"/>
              <a:sym typeface="Roboto ExtraBold"/>
            </a:endParaRPr>
          </a:p>
        </p:txBody>
      </p:sp>
      <p:sp>
        <p:nvSpPr>
          <p:cNvPr id="158" name="Google Shape;158;p25"/>
          <p:cNvSpPr txBox="1"/>
          <p:nvPr>
            <p:ph type="title"/>
          </p:nvPr>
        </p:nvSpPr>
        <p:spPr>
          <a:xfrm>
            <a:off x="136075" y="814350"/>
            <a:ext cx="87591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520">
                <a:latin typeface="Roboto ExtraBold"/>
                <a:ea typeface="Roboto ExtraBold"/>
                <a:cs typeface="Roboto ExtraBold"/>
                <a:sym typeface="Roboto ExtraBold"/>
              </a:rPr>
              <a:t>What is the division of labor to get it accomplished?</a:t>
            </a:r>
            <a:endParaRPr sz="2520">
              <a:latin typeface="Roboto ExtraBold"/>
              <a:ea typeface="Roboto ExtraBold"/>
              <a:cs typeface="Roboto ExtraBold"/>
              <a:sym typeface="Roboto ExtraBold"/>
            </a:endParaRPr>
          </a:p>
          <a:p>
            <a:pPr indent="0" lvl="0" marL="0" rtl="0" algn="l">
              <a:spcBef>
                <a:spcPts val="0"/>
              </a:spcBef>
              <a:spcAft>
                <a:spcPts val="0"/>
              </a:spcAft>
              <a:buSzPts val="1100"/>
              <a:buNone/>
            </a:pPr>
            <a:r>
              <a:t/>
            </a:r>
            <a:endParaRPr sz="2520">
              <a:latin typeface="Roboto ExtraBold"/>
              <a:ea typeface="Roboto ExtraBold"/>
              <a:cs typeface="Roboto ExtraBold"/>
              <a:sym typeface="Roboto ExtraBold"/>
            </a:endParaRPr>
          </a:p>
          <a:p>
            <a:pPr indent="0" lvl="0" marL="0" rtl="0" algn="l">
              <a:spcBef>
                <a:spcPts val="0"/>
              </a:spcBef>
              <a:spcAft>
                <a:spcPts val="0"/>
              </a:spcAft>
              <a:buSzPts val="990"/>
              <a:buNone/>
            </a:pPr>
            <a:r>
              <a:t/>
            </a:r>
            <a:endParaRPr sz="2520">
              <a:latin typeface="Roboto ExtraBold"/>
              <a:ea typeface="Roboto ExtraBold"/>
              <a:cs typeface="Roboto ExtraBold"/>
              <a:sym typeface="Roboto ExtraBold"/>
            </a:endParaRPr>
          </a:p>
        </p:txBody>
      </p:sp>
      <p:sp>
        <p:nvSpPr>
          <p:cNvPr id="159" name="Google Shape;159;p25"/>
          <p:cNvSpPr txBox="1"/>
          <p:nvPr>
            <p:ph idx="1" type="body"/>
          </p:nvPr>
        </p:nvSpPr>
        <p:spPr>
          <a:xfrm>
            <a:off x="210100" y="1416150"/>
            <a:ext cx="4362000" cy="1713900"/>
          </a:xfrm>
          <a:prstGeom prst="rect">
            <a:avLst/>
          </a:prstGeom>
        </p:spPr>
        <p:txBody>
          <a:bodyPr anchorCtr="0" anchor="t" bIns="91425" lIns="91425" spcFirstLastPara="1" rIns="91425" wrap="square" tIns="91425">
            <a:normAutofit lnSpcReduction="20000"/>
          </a:bodyPr>
          <a:lstStyle/>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Customer enters and waits their turn in the queue space</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Customer is greeted by a team member at the counter, where they are able to request which type of bowl they want</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That team member adds the bowl’s base, dips, and meats before passing the bowl to the next team member</a:t>
            </a:r>
            <a:endParaRPr sz="1500">
              <a:solidFill>
                <a:schemeClr val="dk1"/>
              </a:solidFill>
              <a:latin typeface="Times New Roman"/>
              <a:ea typeface="Times New Roman"/>
              <a:cs typeface="Times New Roman"/>
              <a:sym typeface="Times New Roman"/>
            </a:endParaRPr>
          </a:p>
        </p:txBody>
      </p:sp>
      <p:sp>
        <p:nvSpPr>
          <p:cNvPr id="160" name="Google Shape;160;p25"/>
          <p:cNvSpPr txBox="1"/>
          <p:nvPr>
            <p:ph idx="1" type="body"/>
          </p:nvPr>
        </p:nvSpPr>
        <p:spPr>
          <a:xfrm>
            <a:off x="4703800" y="1416150"/>
            <a:ext cx="4362000" cy="1713900"/>
          </a:xfrm>
          <a:prstGeom prst="rect">
            <a:avLst/>
          </a:prstGeom>
        </p:spPr>
        <p:txBody>
          <a:bodyPr anchorCtr="0" anchor="t" bIns="91425" lIns="91425" spcFirstLastPara="1" rIns="91425" wrap="square" tIns="91425">
            <a:normAutofit/>
          </a:bodyPr>
          <a:lstStyle/>
          <a:p>
            <a:pPr indent="-304800" lvl="0" marL="457200" rtl="0" algn="l">
              <a:lnSpc>
                <a:spcPct val="200000"/>
              </a:lnSpc>
              <a:spcBef>
                <a:spcPts val="0"/>
              </a:spcBef>
              <a:spcAft>
                <a:spcPts val="0"/>
              </a:spcAft>
              <a:buClr>
                <a:schemeClr val="dk1"/>
              </a:buClr>
              <a:buSzPts val="1200"/>
              <a:buFont typeface="Times New Roman"/>
              <a:buAutoNum type="arabicPeriod" startAt="4"/>
            </a:pPr>
            <a:r>
              <a:rPr lang="en" sz="1200">
                <a:solidFill>
                  <a:schemeClr val="dk1"/>
                </a:solidFill>
                <a:latin typeface="Times New Roman"/>
                <a:ea typeface="Times New Roman"/>
                <a:cs typeface="Times New Roman"/>
                <a:sym typeface="Times New Roman"/>
              </a:rPr>
              <a:t>This team member puts on any additional toppings and dressings before checking out at the register</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startAt="4"/>
            </a:pPr>
            <a:r>
              <a:rPr lang="en" sz="1200">
                <a:solidFill>
                  <a:schemeClr val="dk1"/>
                </a:solidFill>
                <a:latin typeface="Times New Roman"/>
                <a:ea typeface="Times New Roman"/>
                <a:cs typeface="Times New Roman"/>
                <a:sym typeface="Times New Roman"/>
              </a:rPr>
              <a:t>The customer can get any additional drinks or sides before paying and receiving their bowl</a:t>
            </a:r>
            <a:endParaRPr sz="1200">
              <a:solidFill>
                <a:schemeClr val="dk1"/>
              </a:solidFill>
              <a:latin typeface="Times New Roman"/>
              <a:ea typeface="Times New Roman"/>
              <a:cs typeface="Times New Roman"/>
              <a:sym typeface="Times New Roman"/>
            </a:endParaRPr>
          </a:p>
        </p:txBody>
      </p:sp>
      <p:sp>
        <p:nvSpPr>
          <p:cNvPr id="161" name="Google Shape;161;p25"/>
          <p:cNvSpPr txBox="1"/>
          <p:nvPr>
            <p:ph type="title"/>
          </p:nvPr>
        </p:nvSpPr>
        <p:spPr>
          <a:xfrm>
            <a:off x="192450" y="3341900"/>
            <a:ext cx="87591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2520">
                <a:latin typeface="Roboto ExtraBold"/>
                <a:ea typeface="Roboto ExtraBold"/>
                <a:cs typeface="Roboto ExtraBold"/>
                <a:sym typeface="Roboto ExtraBold"/>
              </a:rPr>
              <a:t>Who are the actors involved?</a:t>
            </a:r>
            <a:endParaRPr sz="2520">
              <a:latin typeface="Roboto ExtraBold"/>
              <a:ea typeface="Roboto ExtraBold"/>
              <a:cs typeface="Roboto ExtraBold"/>
              <a:sym typeface="Roboto ExtraBold"/>
            </a:endParaRPr>
          </a:p>
          <a:p>
            <a:pPr indent="0" lvl="0" marL="0" rtl="0" algn="l">
              <a:spcBef>
                <a:spcPts val="0"/>
              </a:spcBef>
              <a:spcAft>
                <a:spcPts val="0"/>
              </a:spcAft>
              <a:buSzPts val="1100"/>
              <a:buNone/>
            </a:pPr>
            <a:r>
              <a:t/>
            </a:r>
            <a:endParaRPr sz="2520">
              <a:latin typeface="Roboto ExtraBold"/>
              <a:ea typeface="Roboto ExtraBold"/>
              <a:cs typeface="Roboto ExtraBold"/>
              <a:sym typeface="Roboto ExtraBold"/>
            </a:endParaRPr>
          </a:p>
          <a:p>
            <a:pPr indent="0" lvl="0" marL="0" rtl="0" algn="l">
              <a:spcBef>
                <a:spcPts val="0"/>
              </a:spcBef>
              <a:spcAft>
                <a:spcPts val="0"/>
              </a:spcAft>
              <a:buSzPts val="990"/>
              <a:buNone/>
            </a:pPr>
            <a:r>
              <a:t/>
            </a:r>
            <a:endParaRPr sz="2520">
              <a:latin typeface="Roboto ExtraBold"/>
              <a:ea typeface="Roboto ExtraBold"/>
              <a:cs typeface="Roboto ExtraBold"/>
              <a:sym typeface="Roboto ExtraBold"/>
            </a:endParaRPr>
          </a:p>
        </p:txBody>
      </p:sp>
      <p:sp>
        <p:nvSpPr>
          <p:cNvPr id="162" name="Google Shape;162;p25"/>
          <p:cNvSpPr txBox="1"/>
          <p:nvPr>
            <p:ph idx="1" type="body"/>
          </p:nvPr>
        </p:nvSpPr>
        <p:spPr>
          <a:xfrm>
            <a:off x="266475" y="3943700"/>
            <a:ext cx="8101500" cy="11022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Clr>
                <a:schemeClr val="dk1"/>
              </a:buClr>
              <a:buSzPts val="1100"/>
              <a:buFont typeface="Arial"/>
              <a:buNone/>
            </a:pPr>
            <a:r>
              <a:rPr lang="en" sz="1400">
                <a:solidFill>
                  <a:schemeClr val="dk1"/>
                </a:solidFill>
                <a:latin typeface="Times New Roman"/>
                <a:ea typeface="Times New Roman"/>
                <a:cs typeface="Times New Roman"/>
                <a:sym typeface="Times New Roman"/>
              </a:rPr>
              <a:t>Customers, cooks in the back, management, team members (the ones who ring you up and build your bowl)</a:t>
            </a:r>
            <a:endParaRPr sz="14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Physical Space</a:t>
            </a:r>
            <a:endParaRPr sz="3220">
              <a:latin typeface="Roboto ExtraBold"/>
              <a:ea typeface="Roboto ExtraBold"/>
              <a:cs typeface="Roboto ExtraBold"/>
              <a:sym typeface="Roboto ExtraBold"/>
            </a:endParaRPr>
          </a:p>
        </p:txBody>
      </p:sp>
      <p:sp>
        <p:nvSpPr>
          <p:cNvPr id="168" name="Google Shape;168;p26"/>
          <p:cNvSpPr txBox="1"/>
          <p:nvPr>
            <p:ph idx="1" type="body"/>
          </p:nvPr>
        </p:nvSpPr>
        <p:spPr>
          <a:xfrm>
            <a:off x="136075" y="1435575"/>
            <a:ext cx="4260300" cy="3590100"/>
          </a:xfrm>
          <a:prstGeom prst="rect">
            <a:avLst/>
          </a:prstGeom>
        </p:spPr>
        <p:txBody>
          <a:bodyPr anchorCtr="0" anchor="t" bIns="91425" lIns="91425" spcFirstLastPara="1" rIns="91425" wrap="square" tIns="91425">
            <a:normAutofit/>
          </a:bodyPr>
          <a:lstStyle/>
          <a:p>
            <a:pPr indent="0" lvl="0" marL="0" rtl="0" algn="l">
              <a:lnSpc>
                <a:spcPct val="190000"/>
              </a:lnSpc>
              <a:spcBef>
                <a:spcPts val="0"/>
              </a:spcBef>
              <a:spcAft>
                <a:spcPts val="0"/>
              </a:spcAft>
              <a:buClr>
                <a:schemeClr val="dk1"/>
              </a:buClr>
              <a:buSzPts val="770"/>
              <a:buFont typeface="Arial"/>
              <a:buNone/>
            </a:pPr>
            <a:r>
              <a:rPr lang="en" sz="1200">
                <a:solidFill>
                  <a:schemeClr val="dk1"/>
                </a:solidFill>
                <a:latin typeface="Times New Roman"/>
                <a:ea typeface="Times New Roman"/>
                <a:cs typeface="Times New Roman"/>
                <a:sym typeface="Times New Roman"/>
              </a:rPr>
              <a:t>Entering through the front entrance you are immediately greeted with the food counter, easily able to walk up and get ordering right away, however if there is a line, you can easily take a right and enter the queue, which is marked by the barrier that allows the line to snake around the corner. From the entrance you can also see the Online Order shelf where you can quickly grab your food and leave. The entire establishment has a very linear design, first you order, then grab your drinks, then sit down with the very end of the restaurant having another exit and bathrooms.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69" name="Google Shape;169;p26"/>
          <p:cNvSpPr txBox="1"/>
          <p:nvPr>
            <p:ph type="title"/>
          </p:nvPr>
        </p:nvSpPr>
        <p:spPr>
          <a:xfrm>
            <a:off x="136075" y="833775"/>
            <a:ext cx="55659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Space Arrangement</a:t>
            </a:r>
            <a:endParaRPr sz="2520">
              <a:latin typeface="Roboto ExtraBold"/>
              <a:ea typeface="Roboto ExtraBold"/>
              <a:cs typeface="Roboto ExtraBold"/>
              <a:sym typeface="Roboto ExtraBold"/>
            </a:endParaRPr>
          </a:p>
        </p:txBody>
      </p:sp>
      <p:pic>
        <p:nvPicPr>
          <p:cNvPr id="170" name="Google Shape;170;p26"/>
          <p:cNvPicPr preferRelativeResize="0"/>
          <p:nvPr/>
        </p:nvPicPr>
        <p:blipFill>
          <a:blip r:embed="rId3">
            <a:alphaModFix/>
          </a:blip>
          <a:stretch>
            <a:fillRect/>
          </a:stretch>
        </p:blipFill>
        <p:spPr>
          <a:xfrm>
            <a:off x="4458625" y="856863"/>
            <a:ext cx="4573026" cy="34297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Project Overview</a:t>
            </a:r>
            <a:endParaRPr sz="3220">
              <a:latin typeface="Roboto ExtraBold"/>
              <a:ea typeface="Roboto ExtraBold"/>
              <a:cs typeface="Roboto ExtraBold"/>
              <a:sym typeface="Roboto ExtraBold"/>
            </a:endParaRPr>
          </a:p>
        </p:txBody>
      </p:sp>
      <p:sp>
        <p:nvSpPr>
          <p:cNvPr id="176" name="Google Shape;176;p27"/>
          <p:cNvSpPr txBox="1"/>
          <p:nvPr>
            <p:ph idx="1" type="body"/>
          </p:nvPr>
        </p:nvSpPr>
        <p:spPr>
          <a:xfrm>
            <a:off x="136075" y="1435575"/>
            <a:ext cx="4260300" cy="34923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770"/>
              <a:buFont typeface="Arial"/>
              <a:buNone/>
            </a:pPr>
            <a:r>
              <a:rPr lang="en" sz="1200">
                <a:solidFill>
                  <a:schemeClr val="dk1"/>
                </a:solidFill>
                <a:latin typeface="Times New Roman"/>
                <a:ea typeface="Times New Roman"/>
                <a:cs typeface="Times New Roman"/>
                <a:sym typeface="Times New Roman"/>
              </a:rPr>
              <a:t>There are a variety of artifacts scattered throughout the establishment that guide the customer through the motions of the restaurant, especially if it’s their first time. The big menu allows customers to quickly pick a premade bowl while those who want to build their own could easily see the smaller menus stuck on the glass screen so customers can look at the toppings on both the menu and physically in front of them. Various signs allow there to be no confusion around the store as well, such as distinguishing between trash and </a:t>
            </a:r>
            <a:r>
              <a:rPr lang="en" sz="1200">
                <a:solidFill>
                  <a:schemeClr val="dk1"/>
                </a:solidFill>
                <a:latin typeface="Times New Roman"/>
                <a:ea typeface="Times New Roman"/>
                <a:cs typeface="Times New Roman"/>
                <a:sym typeface="Times New Roman"/>
              </a:rPr>
              <a:t>recycling</a:t>
            </a:r>
            <a:r>
              <a:rPr lang="en" sz="1200">
                <a:solidFill>
                  <a:schemeClr val="dk1"/>
                </a:solidFill>
                <a:latin typeface="Times New Roman"/>
                <a:ea typeface="Times New Roman"/>
                <a:cs typeface="Times New Roman"/>
                <a:sym typeface="Times New Roman"/>
              </a:rPr>
              <a:t> or just general warnings to not take bags without permission and to wash your hands.</a:t>
            </a:r>
            <a:endParaRPr sz="1200">
              <a:solidFill>
                <a:schemeClr val="dk1"/>
              </a:solidFill>
              <a:latin typeface="Times New Roman"/>
              <a:ea typeface="Times New Roman"/>
              <a:cs typeface="Times New Roman"/>
              <a:sym typeface="Times New Roman"/>
            </a:endParaRPr>
          </a:p>
        </p:txBody>
      </p:sp>
      <p:sp>
        <p:nvSpPr>
          <p:cNvPr id="177" name="Google Shape;177;p27"/>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Artifact Arrangement</a:t>
            </a:r>
            <a:endParaRPr sz="2520">
              <a:latin typeface="Roboto ExtraBold"/>
              <a:ea typeface="Roboto ExtraBold"/>
              <a:cs typeface="Roboto ExtraBold"/>
              <a:sym typeface="Roboto ExtraBold"/>
            </a:endParaRPr>
          </a:p>
        </p:txBody>
      </p:sp>
      <p:sp>
        <p:nvSpPr>
          <p:cNvPr id="178" name="Google Shape;178;p27"/>
          <p:cNvSpPr txBox="1"/>
          <p:nvPr>
            <p:ph idx="1" type="body"/>
          </p:nvPr>
        </p:nvSpPr>
        <p:spPr>
          <a:xfrm>
            <a:off x="4470400" y="1435575"/>
            <a:ext cx="4260300" cy="34923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1200"/>
              </a:spcAft>
              <a:buNone/>
            </a:pPr>
            <a:r>
              <a:rPr lang="en" sz="1200">
                <a:solidFill>
                  <a:schemeClr val="dk1"/>
                </a:solidFill>
                <a:latin typeface="Times New Roman"/>
                <a:ea typeface="Times New Roman"/>
                <a:cs typeface="Times New Roman"/>
                <a:sym typeface="Times New Roman"/>
              </a:rPr>
              <a:t>The arrangement of the restaurant is designed in a way so that it’s quick and easy to navigate with few obstacles in the way. Tables and seats are along the walls so no one has to sidestep any tables. Employees are almost always only in the kitchen and assembly line so they’re usually not working out in the common areas unless for cleaning.</a:t>
            </a:r>
            <a:endParaRPr sz="1200">
              <a:solidFill>
                <a:schemeClr val="dk1"/>
              </a:solidFill>
              <a:latin typeface="Times New Roman"/>
              <a:ea typeface="Times New Roman"/>
              <a:cs typeface="Times New Roman"/>
              <a:sym typeface="Times New Roman"/>
            </a:endParaRPr>
          </a:p>
        </p:txBody>
      </p:sp>
      <p:sp>
        <p:nvSpPr>
          <p:cNvPr id="179" name="Google Shape;179;p27"/>
          <p:cNvSpPr txBox="1"/>
          <p:nvPr>
            <p:ph type="title"/>
          </p:nvPr>
        </p:nvSpPr>
        <p:spPr>
          <a:xfrm>
            <a:off x="4470400" y="833775"/>
            <a:ext cx="4110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People Arrangement</a:t>
            </a:r>
            <a:endParaRPr sz="2520">
              <a:latin typeface="Roboto ExtraBold"/>
              <a:ea typeface="Roboto ExtraBold"/>
              <a:cs typeface="Roboto ExtraBold"/>
              <a:sym typeface="Roboto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Temporal Space</a:t>
            </a:r>
            <a:endParaRPr sz="3220">
              <a:latin typeface="Roboto ExtraBold"/>
              <a:ea typeface="Roboto ExtraBold"/>
              <a:cs typeface="Roboto ExtraBold"/>
              <a:sym typeface="Roboto ExtraBold"/>
            </a:endParaRPr>
          </a:p>
        </p:txBody>
      </p:sp>
      <p:sp>
        <p:nvSpPr>
          <p:cNvPr id="185" name="Google Shape;185;p28"/>
          <p:cNvSpPr txBox="1"/>
          <p:nvPr>
            <p:ph idx="1" type="body"/>
          </p:nvPr>
        </p:nvSpPr>
        <p:spPr>
          <a:xfrm>
            <a:off x="136075" y="1435576"/>
            <a:ext cx="4260300" cy="35901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1200"/>
              </a:spcAft>
              <a:buNone/>
            </a:pPr>
            <a:r>
              <a:rPr lang="en" sz="1200">
                <a:solidFill>
                  <a:schemeClr val="dk1"/>
                </a:solidFill>
                <a:latin typeface="Times New Roman"/>
                <a:ea typeface="Times New Roman"/>
                <a:cs typeface="Times New Roman"/>
                <a:sym typeface="Times New Roman"/>
              </a:rPr>
              <a:t>Being a fast casual restaurant, it’s important to keep a constant flow of orders coming, hence the assembly line format they have. That’s why all toppings and food is already cooked and </a:t>
            </a:r>
            <a:r>
              <a:rPr lang="en" sz="1200">
                <a:solidFill>
                  <a:schemeClr val="dk1"/>
                </a:solidFill>
                <a:latin typeface="Times New Roman"/>
                <a:ea typeface="Times New Roman"/>
                <a:cs typeface="Times New Roman"/>
                <a:sym typeface="Times New Roman"/>
              </a:rPr>
              <a:t>prepared by the cooks in the back, so the team members in the front can quickly add whatever they need to the order.</a:t>
            </a:r>
            <a:endParaRPr sz="1200">
              <a:solidFill>
                <a:schemeClr val="dk1"/>
              </a:solidFill>
              <a:latin typeface="Times New Roman"/>
              <a:ea typeface="Times New Roman"/>
              <a:cs typeface="Times New Roman"/>
              <a:sym typeface="Times New Roman"/>
            </a:endParaRPr>
          </a:p>
        </p:txBody>
      </p:sp>
      <p:sp>
        <p:nvSpPr>
          <p:cNvPr id="186" name="Google Shape;186;p28"/>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The Role of Timing</a:t>
            </a:r>
            <a:endParaRPr sz="2520">
              <a:latin typeface="Roboto ExtraBold"/>
              <a:ea typeface="Roboto ExtraBold"/>
              <a:cs typeface="Roboto ExtraBold"/>
              <a:sym typeface="Roboto ExtraBold"/>
            </a:endParaRPr>
          </a:p>
        </p:txBody>
      </p:sp>
      <p:sp>
        <p:nvSpPr>
          <p:cNvPr id="187" name="Google Shape;187;p28"/>
          <p:cNvSpPr txBox="1"/>
          <p:nvPr>
            <p:ph idx="1" type="body"/>
          </p:nvPr>
        </p:nvSpPr>
        <p:spPr>
          <a:xfrm>
            <a:off x="4470400" y="1435576"/>
            <a:ext cx="4260300" cy="35901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1200">
                <a:solidFill>
                  <a:schemeClr val="dk1"/>
                </a:solidFill>
                <a:latin typeface="Times New Roman"/>
                <a:ea typeface="Times New Roman"/>
                <a:cs typeface="Times New Roman"/>
                <a:sym typeface="Times New Roman"/>
              </a:rPr>
              <a:t>Ingredients will always be prepped ahead of time, even if all stations are stocked, cooks will keep the kitchen running smoothly in order to prevent toppings from running out. So the timeline will always go:</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Prep ingredients</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Build dish</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Hand out to customer</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Clean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Repeat</a:t>
            </a:r>
            <a:endParaRPr sz="1200">
              <a:solidFill>
                <a:schemeClr val="dk1"/>
              </a:solidFill>
              <a:latin typeface="Times New Roman"/>
              <a:ea typeface="Times New Roman"/>
              <a:cs typeface="Times New Roman"/>
              <a:sym typeface="Times New Roman"/>
            </a:endParaRPr>
          </a:p>
        </p:txBody>
      </p:sp>
      <p:sp>
        <p:nvSpPr>
          <p:cNvPr id="188" name="Google Shape;188;p28"/>
          <p:cNvSpPr txBox="1"/>
          <p:nvPr>
            <p:ph type="title"/>
          </p:nvPr>
        </p:nvSpPr>
        <p:spPr>
          <a:xfrm>
            <a:off x="4470400"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Order of Events</a:t>
            </a:r>
            <a:endParaRPr sz="2520">
              <a:latin typeface="Roboto ExtraBold"/>
              <a:ea typeface="Roboto ExtraBold"/>
              <a:cs typeface="Roboto ExtraBold"/>
              <a:sym typeface="Roboto Extra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Physical Space</a:t>
            </a:r>
            <a:endParaRPr sz="3220">
              <a:latin typeface="Roboto ExtraBold"/>
              <a:ea typeface="Roboto ExtraBold"/>
              <a:cs typeface="Roboto ExtraBold"/>
              <a:sym typeface="Roboto ExtraBold"/>
            </a:endParaRPr>
          </a:p>
        </p:txBody>
      </p:sp>
      <p:sp>
        <p:nvSpPr>
          <p:cNvPr id="194" name="Google Shape;194;p29"/>
          <p:cNvSpPr txBox="1"/>
          <p:nvPr>
            <p:ph idx="1" type="body"/>
          </p:nvPr>
        </p:nvSpPr>
        <p:spPr>
          <a:xfrm>
            <a:off x="136075" y="1779050"/>
            <a:ext cx="4260300" cy="3170400"/>
          </a:xfrm>
          <a:prstGeom prst="rect">
            <a:avLst/>
          </a:prstGeom>
        </p:spPr>
        <p:txBody>
          <a:bodyPr anchorCtr="0" anchor="t" bIns="91425" lIns="91425" spcFirstLastPara="1" rIns="91425" wrap="square" tIns="91425">
            <a:noAutofit/>
          </a:bodyPr>
          <a:lstStyle/>
          <a:p>
            <a:pPr indent="0" lvl="0" marL="0" rtl="0" algn="l">
              <a:lnSpc>
                <a:spcPct val="190000"/>
              </a:lnSpc>
              <a:spcBef>
                <a:spcPts val="0"/>
              </a:spcBef>
              <a:spcAft>
                <a:spcPts val="0"/>
              </a:spcAft>
              <a:buSzPts val="935"/>
              <a:buNone/>
            </a:pPr>
            <a:r>
              <a:rPr lang="en" sz="1220">
                <a:solidFill>
                  <a:schemeClr val="dk1"/>
                </a:solidFill>
                <a:latin typeface="Times New Roman"/>
                <a:ea typeface="Times New Roman"/>
                <a:cs typeface="Times New Roman"/>
                <a:sym typeface="Times New Roman"/>
              </a:rPr>
              <a:t>Not much communication really needs to be made amongst the employees, due to the assembly line fashion of the process, as long as each employee can rinse and repeat their routine then things go smoothly. Communication only </a:t>
            </a:r>
            <a:r>
              <a:rPr lang="en" sz="1220">
                <a:solidFill>
                  <a:schemeClr val="dk1"/>
                </a:solidFill>
                <a:latin typeface="Times New Roman"/>
                <a:ea typeface="Times New Roman"/>
                <a:cs typeface="Times New Roman"/>
                <a:sym typeface="Times New Roman"/>
              </a:rPr>
              <a:t>really</a:t>
            </a:r>
            <a:r>
              <a:rPr lang="en" sz="1220">
                <a:solidFill>
                  <a:schemeClr val="dk1"/>
                </a:solidFill>
                <a:latin typeface="Times New Roman"/>
                <a:ea typeface="Times New Roman"/>
                <a:cs typeface="Times New Roman"/>
                <a:sym typeface="Times New Roman"/>
              </a:rPr>
              <a:t> happens when passing an employee passes your bowl to the next and tells them if any extra charges should be added. </a:t>
            </a:r>
            <a:endParaRPr sz="122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SzPts val="935"/>
              <a:buNone/>
            </a:pPr>
            <a:r>
              <a:t/>
            </a:r>
            <a:endParaRPr sz="1020">
              <a:solidFill>
                <a:schemeClr val="dk1"/>
              </a:solidFill>
              <a:latin typeface="Times New Roman"/>
              <a:ea typeface="Times New Roman"/>
              <a:cs typeface="Times New Roman"/>
              <a:sym typeface="Times New Roman"/>
            </a:endParaRPr>
          </a:p>
        </p:txBody>
      </p:sp>
      <p:sp>
        <p:nvSpPr>
          <p:cNvPr id="195" name="Google Shape;195;p29"/>
          <p:cNvSpPr txBox="1"/>
          <p:nvPr>
            <p:ph type="title"/>
          </p:nvPr>
        </p:nvSpPr>
        <p:spPr>
          <a:xfrm>
            <a:off x="136075" y="757575"/>
            <a:ext cx="43224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lang="en" sz="2520">
                <a:latin typeface="Roboto ExtraBold"/>
                <a:ea typeface="Roboto ExtraBold"/>
                <a:cs typeface="Roboto ExtraBold"/>
                <a:sym typeface="Roboto ExtraBold"/>
              </a:rPr>
              <a:t>How does coordination happen </a:t>
            </a:r>
            <a:endParaRPr sz="2520">
              <a:latin typeface="Roboto ExtraBold"/>
              <a:ea typeface="Roboto ExtraBold"/>
              <a:cs typeface="Roboto ExtraBold"/>
              <a:sym typeface="Roboto ExtraBold"/>
            </a:endParaRPr>
          </a:p>
        </p:txBody>
      </p:sp>
      <p:pic>
        <p:nvPicPr>
          <p:cNvPr id="196" name="Google Shape;196;p29"/>
          <p:cNvPicPr preferRelativeResize="0"/>
          <p:nvPr/>
        </p:nvPicPr>
        <p:blipFill>
          <a:blip r:embed="rId3">
            <a:alphaModFix/>
          </a:blip>
          <a:stretch>
            <a:fillRect/>
          </a:stretch>
        </p:blipFill>
        <p:spPr>
          <a:xfrm>
            <a:off x="4572000" y="636200"/>
            <a:ext cx="4202499" cy="42024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41725" y="-85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Propagation</a:t>
            </a:r>
            <a:r>
              <a:rPr lang="en" sz="3220">
                <a:latin typeface="Roboto ExtraBold"/>
                <a:ea typeface="Roboto ExtraBold"/>
                <a:cs typeface="Roboto ExtraBold"/>
                <a:sym typeface="Roboto ExtraBold"/>
              </a:rPr>
              <a:t> of Representational States</a:t>
            </a:r>
            <a:endParaRPr sz="3220">
              <a:latin typeface="Roboto ExtraBold"/>
              <a:ea typeface="Roboto ExtraBold"/>
              <a:cs typeface="Roboto ExtraBold"/>
              <a:sym typeface="Roboto ExtraBold"/>
            </a:endParaRPr>
          </a:p>
        </p:txBody>
      </p:sp>
      <p:sp>
        <p:nvSpPr>
          <p:cNvPr id="202" name="Google Shape;202;p30"/>
          <p:cNvSpPr/>
          <p:nvPr/>
        </p:nvSpPr>
        <p:spPr>
          <a:xfrm>
            <a:off x="855800" y="876000"/>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Customer peruses menu and decides what they want</a:t>
            </a:r>
            <a:endParaRPr>
              <a:latin typeface="Times New Roman"/>
              <a:ea typeface="Times New Roman"/>
              <a:cs typeface="Times New Roman"/>
              <a:sym typeface="Times New Roman"/>
            </a:endParaRPr>
          </a:p>
        </p:txBody>
      </p:sp>
      <p:sp>
        <p:nvSpPr>
          <p:cNvPr id="203" name="Google Shape;203;p30"/>
          <p:cNvSpPr/>
          <p:nvPr/>
        </p:nvSpPr>
        <p:spPr>
          <a:xfrm>
            <a:off x="855800" y="1896509"/>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Customer communicates order to employee</a:t>
            </a:r>
            <a:endParaRPr>
              <a:latin typeface="Times New Roman"/>
              <a:ea typeface="Times New Roman"/>
              <a:cs typeface="Times New Roman"/>
              <a:sym typeface="Times New Roman"/>
            </a:endParaRPr>
          </a:p>
        </p:txBody>
      </p:sp>
      <p:sp>
        <p:nvSpPr>
          <p:cNvPr id="204" name="Google Shape;204;p30"/>
          <p:cNvSpPr/>
          <p:nvPr/>
        </p:nvSpPr>
        <p:spPr>
          <a:xfrm>
            <a:off x="855800" y="2917018"/>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Customer pays and receives their dish</a:t>
            </a:r>
            <a:endParaRPr/>
          </a:p>
        </p:txBody>
      </p:sp>
      <p:sp>
        <p:nvSpPr>
          <p:cNvPr id="205" name="Google Shape;205;p30"/>
          <p:cNvSpPr/>
          <p:nvPr/>
        </p:nvSpPr>
        <p:spPr>
          <a:xfrm>
            <a:off x="855800" y="3937527"/>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Customer can grab a drink, sit down, or leave to eat</a:t>
            </a:r>
            <a:endParaRPr/>
          </a:p>
        </p:txBody>
      </p:sp>
      <p:sp>
        <p:nvSpPr>
          <p:cNvPr id="206" name="Google Shape;206;p30"/>
          <p:cNvSpPr/>
          <p:nvPr/>
        </p:nvSpPr>
        <p:spPr>
          <a:xfrm>
            <a:off x="4932700" y="875988"/>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Employees are prepping ingredients and maintaining kitchen</a:t>
            </a:r>
            <a:endParaRPr>
              <a:latin typeface="Times New Roman"/>
              <a:ea typeface="Times New Roman"/>
              <a:cs typeface="Times New Roman"/>
              <a:sym typeface="Times New Roman"/>
            </a:endParaRPr>
          </a:p>
        </p:txBody>
      </p:sp>
      <p:sp>
        <p:nvSpPr>
          <p:cNvPr id="207" name="Google Shape;207;p30"/>
          <p:cNvSpPr/>
          <p:nvPr/>
        </p:nvSpPr>
        <p:spPr>
          <a:xfrm>
            <a:off x="4932700" y="1896497"/>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Employee receives order and assembles to customer’s wants</a:t>
            </a:r>
            <a:endParaRPr/>
          </a:p>
        </p:txBody>
      </p:sp>
      <p:sp>
        <p:nvSpPr>
          <p:cNvPr id="208" name="Google Shape;208;p30"/>
          <p:cNvSpPr/>
          <p:nvPr/>
        </p:nvSpPr>
        <p:spPr>
          <a:xfrm>
            <a:off x="4932700" y="2917006"/>
            <a:ext cx="2044800" cy="925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Employee </a:t>
            </a:r>
            <a:r>
              <a:rPr lang="en">
                <a:solidFill>
                  <a:schemeClr val="dk1"/>
                </a:solidFill>
                <a:latin typeface="Times New Roman"/>
                <a:ea typeface="Times New Roman"/>
                <a:cs typeface="Times New Roman"/>
                <a:sym typeface="Times New Roman"/>
              </a:rPr>
              <a:t>receives</a:t>
            </a:r>
            <a:r>
              <a:rPr lang="en">
                <a:solidFill>
                  <a:schemeClr val="dk1"/>
                </a:solidFill>
                <a:latin typeface="Times New Roman"/>
                <a:ea typeface="Times New Roman"/>
                <a:cs typeface="Times New Roman"/>
                <a:sym typeface="Times New Roman"/>
              </a:rPr>
              <a:t> payment and hands dish to customer</a:t>
            </a:r>
            <a:endParaRPr/>
          </a:p>
        </p:txBody>
      </p:sp>
      <p:sp>
        <p:nvSpPr>
          <p:cNvPr id="209" name="Google Shape;209;p30"/>
          <p:cNvSpPr txBox="1"/>
          <p:nvPr/>
        </p:nvSpPr>
        <p:spPr>
          <a:xfrm>
            <a:off x="3093300" y="2103800"/>
            <a:ext cx="1628100" cy="51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Times New Roman"/>
                <a:ea typeface="Times New Roman"/>
                <a:cs typeface="Times New Roman"/>
                <a:sym typeface="Times New Roman"/>
              </a:rPr>
              <a:t>Production begins</a:t>
            </a:r>
            <a:endParaRPr sz="1500">
              <a:solidFill>
                <a:schemeClr val="dk1"/>
              </a:solidFill>
              <a:latin typeface="Times New Roman"/>
              <a:ea typeface="Times New Roman"/>
              <a:cs typeface="Times New Roman"/>
              <a:sym typeface="Times New Roman"/>
            </a:endParaRPr>
          </a:p>
        </p:txBody>
      </p:sp>
      <p:sp>
        <p:nvSpPr>
          <p:cNvPr id="210" name="Google Shape;210;p30"/>
          <p:cNvSpPr txBox="1"/>
          <p:nvPr/>
        </p:nvSpPr>
        <p:spPr>
          <a:xfrm>
            <a:off x="3102600" y="3124325"/>
            <a:ext cx="1628100" cy="51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Times New Roman"/>
                <a:ea typeface="Times New Roman"/>
                <a:cs typeface="Times New Roman"/>
                <a:sym typeface="Times New Roman"/>
              </a:rPr>
              <a:t>Conclusion</a:t>
            </a:r>
            <a:endParaRPr sz="1500">
              <a:solidFill>
                <a:schemeClr val="dk1"/>
              </a:solidFill>
              <a:latin typeface="Times New Roman"/>
              <a:ea typeface="Times New Roman"/>
              <a:cs typeface="Times New Roman"/>
              <a:sym typeface="Times New Roman"/>
            </a:endParaRPr>
          </a:p>
        </p:txBody>
      </p:sp>
      <p:sp>
        <p:nvSpPr>
          <p:cNvPr id="211" name="Google Shape;211;p30"/>
          <p:cNvSpPr txBox="1"/>
          <p:nvPr/>
        </p:nvSpPr>
        <p:spPr>
          <a:xfrm>
            <a:off x="3093300" y="1039688"/>
            <a:ext cx="1628100" cy="51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Times New Roman"/>
                <a:ea typeface="Times New Roman"/>
                <a:cs typeface="Times New Roman"/>
                <a:sym typeface="Times New Roman"/>
              </a:rPr>
              <a:t>Preparation</a:t>
            </a:r>
            <a:endParaRPr sz="1500">
              <a:solidFill>
                <a:schemeClr val="dk1"/>
              </a:solidFill>
              <a:latin typeface="Times New Roman"/>
              <a:ea typeface="Times New Roman"/>
              <a:cs typeface="Times New Roman"/>
              <a:sym typeface="Times New Roman"/>
            </a:endParaRPr>
          </a:p>
        </p:txBody>
      </p:sp>
      <p:sp>
        <p:nvSpPr>
          <p:cNvPr id="212" name="Google Shape;212;p30"/>
          <p:cNvSpPr txBox="1"/>
          <p:nvPr/>
        </p:nvSpPr>
        <p:spPr>
          <a:xfrm>
            <a:off x="1064150" y="507683"/>
            <a:ext cx="1628100" cy="34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Times New Roman"/>
                <a:ea typeface="Times New Roman"/>
                <a:cs typeface="Times New Roman"/>
                <a:sym typeface="Times New Roman"/>
              </a:rPr>
              <a:t>Customer</a:t>
            </a:r>
            <a:endParaRPr sz="1500">
              <a:solidFill>
                <a:schemeClr val="dk1"/>
              </a:solidFill>
              <a:latin typeface="Times New Roman"/>
              <a:ea typeface="Times New Roman"/>
              <a:cs typeface="Times New Roman"/>
              <a:sym typeface="Times New Roman"/>
            </a:endParaRPr>
          </a:p>
        </p:txBody>
      </p:sp>
      <p:sp>
        <p:nvSpPr>
          <p:cNvPr id="213" name="Google Shape;213;p30"/>
          <p:cNvSpPr txBox="1"/>
          <p:nvPr/>
        </p:nvSpPr>
        <p:spPr>
          <a:xfrm>
            <a:off x="5141050" y="507696"/>
            <a:ext cx="1628100" cy="34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Times New Roman"/>
                <a:ea typeface="Times New Roman"/>
                <a:cs typeface="Times New Roman"/>
                <a:sym typeface="Times New Roman"/>
              </a:rPr>
              <a:t>Employee</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136075" y="63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Roboto ExtraBold"/>
                <a:ea typeface="Roboto ExtraBold"/>
                <a:cs typeface="Roboto ExtraBold"/>
                <a:sym typeface="Roboto ExtraBold"/>
              </a:rPr>
              <a:t>Derivation of Design</a:t>
            </a:r>
            <a:endParaRPr sz="3220">
              <a:latin typeface="Roboto ExtraBold"/>
              <a:ea typeface="Roboto ExtraBold"/>
              <a:cs typeface="Roboto ExtraBold"/>
              <a:sym typeface="Roboto ExtraBold"/>
            </a:endParaRPr>
          </a:p>
        </p:txBody>
      </p:sp>
      <p:sp>
        <p:nvSpPr>
          <p:cNvPr id="219" name="Google Shape;219;p31"/>
          <p:cNvSpPr txBox="1"/>
          <p:nvPr>
            <p:ph idx="1" type="body"/>
          </p:nvPr>
        </p:nvSpPr>
        <p:spPr>
          <a:xfrm>
            <a:off x="136075" y="1435575"/>
            <a:ext cx="8121900" cy="12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The linear design of Cava is incredible in </a:t>
            </a:r>
            <a:r>
              <a:rPr lang="en" sz="1500">
                <a:solidFill>
                  <a:schemeClr val="dk1"/>
                </a:solidFill>
                <a:latin typeface="Times New Roman"/>
                <a:ea typeface="Times New Roman"/>
                <a:cs typeface="Times New Roman"/>
                <a:sym typeface="Times New Roman"/>
              </a:rPr>
              <a:t>efficiency</a:t>
            </a:r>
            <a:r>
              <a:rPr lang="en" sz="1500">
                <a:solidFill>
                  <a:schemeClr val="dk1"/>
                </a:solidFill>
                <a:latin typeface="Times New Roman"/>
                <a:ea typeface="Times New Roman"/>
                <a:cs typeface="Times New Roman"/>
                <a:sym typeface="Times New Roman"/>
              </a:rPr>
              <a:t> and </a:t>
            </a:r>
            <a:r>
              <a:rPr lang="en" sz="1500">
                <a:solidFill>
                  <a:schemeClr val="dk1"/>
                </a:solidFill>
                <a:latin typeface="Times New Roman"/>
                <a:ea typeface="Times New Roman"/>
                <a:cs typeface="Times New Roman"/>
                <a:sym typeface="Times New Roman"/>
              </a:rPr>
              <a:t>aesthetic</a:t>
            </a:r>
            <a:r>
              <a:rPr lang="en" sz="1500">
                <a:solidFill>
                  <a:schemeClr val="dk1"/>
                </a:solidFill>
                <a:latin typeface="Times New Roman"/>
                <a:ea typeface="Times New Roman"/>
                <a:cs typeface="Times New Roman"/>
                <a:sym typeface="Times New Roman"/>
              </a:rPr>
              <a:t>, the assembly line process can be new to many but the signs and </a:t>
            </a:r>
            <a:r>
              <a:rPr lang="en" sz="1500">
                <a:solidFill>
                  <a:schemeClr val="dk1"/>
                </a:solidFill>
                <a:latin typeface="Times New Roman"/>
                <a:ea typeface="Times New Roman"/>
                <a:cs typeface="Times New Roman"/>
                <a:sym typeface="Times New Roman"/>
              </a:rPr>
              <a:t>guidelines</a:t>
            </a:r>
            <a:r>
              <a:rPr lang="en" sz="1500">
                <a:solidFill>
                  <a:schemeClr val="dk1"/>
                </a:solidFill>
                <a:latin typeface="Times New Roman"/>
                <a:ea typeface="Times New Roman"/>
                <a:cs typeface="Times New Roman"/>
                <a:sym typeface="Times New Roman"/>
              </a:rPr>
              <a:t> </a:t>
            </a:r>
            <a:r>
              <a:rPr lang="en" sz="1500">
                <a:solidFill>
                  <a:schemeClr val="dk1"/>
                </a:solidFill>
                <a:latin typeface="Times New Roman"/>
                <a:ea typeface="Times New Roman"/>
                <a:cs typeface="Times New Roman"/>
                <a:sym typeface="Times New Roman"/>
              </a:rPr>
              <a:t>strategically</a:t>
            </a:r>
            <a:r>
              <a:rPr lang="en" sz="1500">
                <a:solidFill>
                  <a:schemeClr val="dk1"/>
                </a:solidFill>
                <a:latin typeface="Times New Roman"/>
                <a:ea typeface="Times New Roman"/>
                <a:cs typeface="Times New Roman"/>
                <a:sym typeface="Times New Roman"/>
              </a:rPr>
              <a:t> placed around the establishment allows newcomers to understand how everything works</a:t>
            </a:r>
            <a:endParaRPr sz="1500">
              <a:solidFill>
                <a:schemeClr val="dk1"/>
              </a:solidFill>
              <a:latin typeface="Times New Roman"/>
              <a:ea typeface="Times New Roman"/>
              <a:cs typeface="Times New Roman"/>
              <a:sym typeface="Times New Roman"/>
            </a:endParaRPr>
          </a:p>
        </p:txBody>
      </p:sp>
      <p:sp>
        <p:nvSpPr>
          <p:cNvPr id="220" name="Google Shape;220;p31"/>
          <p:cNvSpPr txBox="1"/>
          <p:nvPr>
            <p:ph type="title"/>
          </p:nvPr>
        </p:nvSpPr>
        <p:spPr>
          <a:xfrm>
            <a:off x="136075" y="833775"/>
            <a:ext cx="35850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latin typeface="Roboto ExtraBold"/>
                <a:ea typeface="Roboto ExtraBold"/>
                <a:cs typeface="Roboto ExtraBold"/>
                <a:sym typeface="Roboto ExtraBold"/>
              </a:rPr>
              <a:t>Principle of Design</a:t>
            </a:r>
            <a:endParaRPr sz="2520">
              <a:latin typeface="Roboto ExtraBold"/>
              <a:ea typeface="Roboto ExtraBold"/>
              <a:cs typeface="Roboto ExtraBold"/>
              <a:sym typeface="Roboto ExtraBold"/>
            </a:endParaRPr>
          </a:p>
        </p:txBody>
      </p:sp>
      <p:sp>
        <p:nvSpPr>
          <p:cNvPr id="221" name="Google Shape;221;p31"/>
          <p:cNvSpPr txBox="1"/>
          <p:nvPr>
            <p:ph type="title"/>
          </p:nvPr>
        </p:nvSpPr>
        <p:spPr>
          <a:xfrm>
            <a:off x="136075" y="2508825"/>
            <a:ext cx="8759100" cy="6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520">
                <a:latin typeface="Roboto ExtraBold"/>
                <a:ea typeface="Roboto ExtraBold"/>
                <a:cs typeface="Roboto ExtraBold"/>
                <a:sym typeface="Roboto ExtraBold"/>
              </a:rPr>
              <a:t>Recommendation</a:t>
            </a:r>
            <a:endParaRPr sz="2520">
              <a:latin typeface="Roboto ExtraBold"/>
              <a:ea typeface="Roboto ExtraBold"/>
              <a:cs typeface="Roboto ExtraBold"/>
              <a:sym typeface="Roboto ExtraBold"/>
            </a:endParaRPr>
          </a:p>
          <a:p>
            <a:pPr indent="0" lvl="0" marL="0" rtl="0" algn="l">
              <a:spcBef>
                <a:spcPts val="0"/>
              </a:spcBef>
              <a:spcAft>
                <a:spcPts val="0"/>
              </a:spcAft>
              <a:buSzPts val="990"/>
              <a:buNone/>
            </a:pPr>
            <a:r>
              <a:t/>
            </a:r>
            <a:endParaRPr sz="2520">
              <a:latin typeface="Roboto ExtraBold"/>
              <a:ea typeface="Roboto ExtraBold"/>
              <a:cs typeface="Roboto ExtraBold"/>
              <a:sym typeface="Roboto ExtraBold"/>
            </a:endParaRPr>
          </a:p>
        </p:txBody>
      </p:sp>
      <p:sp>
        <p:nvSpPr>
          <p:cNvPr id="222" name="Google Shape;222;p31"/>
          <p:cNvSpPr txBox="1"/>
          <p:nvPr>
            <p:ph idx="1" type="body"/>
          </p:nvPr>
        </p:nvSpPr>
        <p:spPr>
          <a:xfrm>
            <a:off x="210100" y="3110625"/>
            <a:ext cx="4563900" cy="1647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500">
                <a:solidFill>
                  <a:schemeClr val="dk1"/>
                </a:solidFill>
                <a:latin typeface="Times New Roman"/>
                <a:ea typeface="Times New Roman"/>
                <a:cs typeface="Times New Roman"/>
                <a:sym typeface="Times New Roman"/>
              </a:rPr>
              <a:t>As nice as the linear design of the establishment is, the massive pole stuck in the middle of the entire place does feel quite jarring. I understand that it’s part of the building’s structural </a:t>
            </a:r>
            <a:r>
              <a:rPr lang="en" sz="1500">
                <a:solidFill>
                  <a:schemeClr val="dk1"/>
                </a:solidFill>
                <a:latin typeface="Times New Roman"/>
                <a:ea typeface="Times New Roman"/>
                <a:cs typeface="Times New Roman"/>
                <a:sym typeface="Times New Roman"/>
              </a:rPr>
              <a:t>integrity</a:t>
            </a:r>
            <a:r>
              <a:rPr lang="en" sz="1500">
                <a:solidFill>
                  <a:schemeClr val="dk1"/>
                </a:solidFill>
                <a:latin typeface="Times New Roman"/>
                <a:ea typeface="Times New Roman"/>
                <a:cs typeface="Times New Roman"/>
                <a:sym typeface="Times New Roman"/>
              </a:rPr>
              <a:t> but it blocks off a path for customers to walk in and blocks out the view of the dining area from the entrance</a:t>
            </a:r>
            <a:endParaRPr sz="1500">
              <a:solidFill>
                <a:schemeClr val="dk1"/>
              </a:solidFill>
              <a:latin typeface="Times New Roman"/>
              <a:ea typeface="Times New Roman"/>
              <a:cs typeface="Times New Roman"/>
              <a:sym typeface="Times New Roman"/>
            </a:endParaRPr>
          </a:p>
        </p:txBody>
      </p:sp>
      <p:pic>
        <p:nvPicPr>
          <p:cNvPr id="223" name="Google Shape;223;p31" title="IMG_4174.JPG"/>
          <p:cNvPicPr preferRelativeResize="0"/>
          <p:nvPr/>
        </p:nvPicPr>
        <p:blipFill rotWithShape="1">
          <a:blip r:embed="rId3">
            <a:alphaModFix/>
          </a:blip>
          <a:srcRect b="34869" l="31951" r="27430" t="28036"/>
          <a:stretch/>
        </p:blipFill>
        <p:spPr>
          <a:xfrm>
            <a:off x="4986175" y="2784100"/>
            <a:ext cx="3169475" cy="2170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